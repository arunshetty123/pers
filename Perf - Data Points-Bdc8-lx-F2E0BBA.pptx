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  <a:srgbClr val="9933FF"/>
    <a:srgbClr val="6600FF"/>
    <a:srgbClr val="5A00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774D-0E0A-4AAD-BEA1-A920B60E0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CCE5DE-BDEB-4865-80D2-AA7FB230B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84C07-B401-4B4B-B33A-F821C052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385B5-2236-4890-BCB1-6995254C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B9A56-ACF0-4B92-AC11-EF429C1F2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80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EF6B4-8E8D-4A52-9ECD-B6BA3408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EB50B-3EF4-45B3-8339-C261A20AA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80CE7-520B-4124-8DE2-0ABD6410D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69AAB-2598-438E-9F69-8B887399F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ECD88-4625-4870-801A-2D22B82C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6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E1A6-7FEA-48E4-87D4-4F8472D6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CAED0-38B2-40E8-9BE9-9C1C0F775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7662F-1C0D-4746-AEF4-9F33C258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BB0CD-ED13-4BFB-9F83-61886F59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2957E-35D6-4D89-B630-A6D242F7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9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8897-0D9D-4405-980B-DFB029FF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35DE2-5B5C-4F29-900C-AA7745674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97BB9-3A93-4267-839D-76AD09619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155C2-6660-4FA4-9525-3DD35137F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54C69-266A-434E-B565-DE4212AF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67BCE-3127-4424-9B9B-483351E7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52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EA4E-5B02-4113-9410-473E10A8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09719-019F-4569-8B36-67457BB45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D9D31-52B0-4709-9ED4-CCC4A6CF1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A76A8-E434-4909-AD34-58DC9BA65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E14B2-AA65-44A3-92CD-636D3140F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206FA1-BFA5-4E0C-86A4-0934D365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4B91F6-84DF-47A0-9395-904FA8A4C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3D01A8-064B-4BE5-9D7C-AAF85B908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D4A4-84C7-492E-84D6-68EB8B4F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6400F5-D8D6-4773-8DEA-F159DA8A6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B34C8-92B2-427F-B760-7EC665584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E3449-E62B-45C0-9A10-249C604F6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4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B77F7-A2C6-4F5C-8979-806EA137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02D37-2064-4872-A3F7-FE3DAAF76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7692F-407E-4D3B-A8DC-F59A7618C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07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999D7-937A-4E57-B8A2-B8ACF5B64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E215-7F04-40E9-8DF4-C895F81F7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D8DD6-B001-4EE9-87F1-CBBA2D7FF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E3B2C-A894-4CD2-959E-F101DEC27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62CE5-BEE1-41BF-ABE1-49FF57BF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98766-50A2-4064-9198-D718CD54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26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5179-BF15-4D8B-BD26-14EA923AF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E7780-A717-416B-AB06-CEF17A9AC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31E6C-0070-43CB-8D0A-9349B7598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37FA5-FC94-4404-9869-4E67B87E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2B4E1-8376-4032-9539-0F07A2E4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C623F-4096-4654-BE8B-98CD2EAD1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21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3F901-4A17-41B4-8ACD-27099627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62773-AB5A-4A88-8E0D-D0212C75F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2028E-790B-41F9-BE0F-8608A14C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D66AF-F7DC-41EC-BDEB-0CA38A16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E4582-6C73-4E79-BC5A-A90AD6EA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3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5475E1-502A-4073-BC47-008E46D00E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2A06F-8FF7-4F34-8C10-D54C39CF7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D9177-B264-47CB-8C2A-403FAB5D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FF634-EBD0-4CFC-913F-DEFD7138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1072-3DD5-4DE6-9B6C-85010C293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89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E78F8B-2051-46BF-BF77-41A410CA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E44A1-58DD-4EF5-B59F-5EE117260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BBDC0-2EB3-4D00-BE92-3ECE979F8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48A3B-FEC0-4359-843D-E542642860F8}" type="datetimeFigureOut">
              <a:rPr lang="en-US" smtClean="0"/>
              <a:t>8/9/2022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8CF01-E0D6-4514-86FA-AA1378F93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F1C3-185D-4EED-A154-AB3DABB83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165C0-E45E-44DE-B975-BB5279528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9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B63D91-7C43-4529-BE7C-F1520DF70623}"/>
              </a:ext>
            </a:extLst>
          </p:cNvPr>
          <p:cNvSpPr txBox="1"/>
          <p:nvPr/>
        </p:nvSpPr>
        <p:spPr>
          <a:xfrm>
            <a:off x="688366" y="146903"/>
            <a:ext cx="2958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</a:rPr>
              <a:t>Arun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D55F1-A43D-4BEA-A302-14A194971D42}"/>
              </a:ext>
            </a:extLst>
          </p:cNvPr>
          <p:cNvSpPr txBox="1"/>
          <p:nvPr/>
        </p:nvSpPr>
        <p:spPr>
          <a:xfrm>
            <a:off x="688366" y="2601142"/>
            <a:ext cx="475864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Accenture Trainings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 to date with all ethics and compliance trainings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TQ Score </a:t>
            </a:r>
            <a:r>
              <a:rPr lang="en-US"/>
              <a:t>of 12/12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Completed all DLF trainings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6CAA20-B04F-4706-AF91-531F52F3E0D9}"/>
              </a:ext>
            </a:extLst>
          </p:cNvPr>
          <p:cNvSpPr txBox="1"/>
          <p:nvPr/>
        </p:nvSpPr>
        <p:spPr>
          <a:xfrm>
            <a:off x="7144520" y="815421"/>
            <a:ext cx="475864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Delivery Excellence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Zero issues and escalations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Modularized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Flexible assets (configurable according to client needs)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2D31F-0113-4AAC-B7DC-72A5E951C7E9}"/>
              </a:ext>
            </a:extLst>
          </p:cNvPr>
          <p:cNvSpPr txBox="1"/>
          <p:nvPr/>
        </p:nvSpPr>
        <p:spPr>
          <a:xfrm>
            <a:off x="7144517" y="2458651"/>
            <a:ext cx="47586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People Development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team members completed at least 1 Oracle certification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Took many internal KT sessions on DevOps tools, Selenium and other 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 team demo of Automation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2B05BB-012A-40EB-A13A-556DD0EA7030}"/>
              </a:ext>
            </a:extLst>
          </p:cNvPr>
          <p:cNvSpPr txBox="1"/>
          <p:nvPr/>
        </p:nvSpPr>
        <p:spPr>
          <a:xfrm>
            <a:off x="688366" y="815421"/>
            <a:ext cx="523802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Assets/Innovations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RPA Orchestrator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TMF Adapter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DevOps for Dx4C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TAF Automation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FB50B3-6377-4837-A0BE-F27B2A4859F0}"/>
              </a:ext>
            </a:extLst>
          </p:cNvPr>
          <p:cNvSpPr txBox="1"/>
          <p:nvPr/>
        </p:nvSpPr>
        <p:spPr>
          <a:xfrm>
            <a:off x="688366" y="4109865"/>
            <a:ext cx="391445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Skills acquired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DevOps Concepts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DevOps Tools (Jenkins, Git, Docker)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DX4C L1 &amp; L2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OCI L1 &amp; L2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OCI Certification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 Cloud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Selenium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UiPath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30399C-8D58-42FA-8504-84773C765A77}"/>
              </a:ext>
            </a:extLst>
          </p:cNvPr>
          <p:cNvSpPr txBox="1"/>
          <p:nvPr/>
        </p:nvSpPr>
        <p:spPr>
          <a:xfrm>
            <a:off x="7144517" y="4655879"/>
            <a:ext cx="475864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Special Achievements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White paper on RPA Orchestration using open-source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Contributed to KX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2867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C4DEC2-31F9-4327-A830-5192B9C605AD}"/>
              </a:ext>
            </a:extLst>
          </p:cNvPr>
          <p:cNvSpPr txBox="1"/>
          <p:nvPr/>
        </p:nvSpPr>
        <p:spPr>
          <a:xfrm>
            <a:off x="267127" y="127993"/>
            <a:ext cx="2198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</a:rPr>
              <a:t>Summary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B6CD9-25F4-4262-8BCB-66A36ADDC41E}"/>
              </a:ext>
            </a:extLst>
          </p:cNvPr>
          <p:cNvSpPr txBox="1"/>
          <p:nvPr/>
        </p:nvSpPr>
        <p:spPr>
          <a:xfrm>
            <a:off x="267127" y="1789250"/>
            <a:ext cx="444871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66FF"/>
                </a:solidFill>
              </a:rPr>
              <a:t>Assets/Innovations –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Novo Nordisk – </a:t>
            </a:r>
            <a:r>
              <a:rPr lang="en-US" sz="2400" b="1" dirty="0">
                <a:solidFill>
                  <a:srgbClr val="9966FF"/>
                </a:solidFill>
              </a:rPr>
              <a:t>4</a:t>
            </a:r>
            <a:endParaRPr lang="en-US" sz="2000" b="1" dirty="0">
              <a:solidFill>
                <a:srgbClr val="9966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DX4C - </a:t>
            </a:r>
            <a:r>
              <a:rPr lang="en-US" sz="2400" b="1" dirty="0">
                <a:solidFill>
                  <a:srgbClr val="9966FF"/>
                </a:solidFill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B6729A-82BB-4CE1-BB86-C9D49C30B463}"/>
              </a:ext>
            </a:extLst>
          </p:cNvPr>
          <p:cNvSpPr txBox="1"/>
          <p:nvPr/>
        </p:nvSpPr>
        <p:spPr>
          <a:xfrm>
            <a:off x="267127" y="845299"/>
            <a:ext cx="27842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66FF"/>
                </a:solidFill>
              </a:rPr>
              <a:t>Utilization – </a:t>
            </a:r>
            <a:r>
              <a:rPr lang="en-US" sz="2400" b="1" dirty="0">
                <a:solidFill>
                  <a:srgbClr val="9933FF"/>
                </a:solidFill>
              </a:rPr>
              <a:t>100%</a:t>
            </a:r>
          </a:p>
          <a:p>
            <a:r>
              <a:rPr lang="en-US" sz="2000" b="1" dirty="0">
                <a:solidFill>
                  <a:srgbClr val="9966FF"/>
                </a:solidFill>
              </a:rPr>
              <a:t>Chargeability -  </a:t>
            </a:r>
            <a:r>
              <a:rPr lang="en-US" sz="2400" b="1" dirty="0">
                <a:solidFill>
                  <a:srgbClr val="9933FF"/>
                </a:solidFill>
              </a:rPr>
              <a:t>41.1%</a:t>
            </a:r>
            <a:endParaRPr lang="en-US" b="1" dirty="0">
              <a:solidFill>
                <a:srgbClr val="9933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2CAF0-CF1A-42D6-ABFF-307AAF6C814F}"/>
              </a:ext>
            </a:extLst>
          </p:cNvPr>
          <p:cNvSpPr txBox="1"/>
          <p:nvPr/>
        </p:nvSpPr>
        <p:spPr>
          <a:xfrm>
            <a:off x="6904231" y="266492"/>
            <a:ext cx="47586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66FF"/>
                </a:solidFill>
              </a:rPr>
              <a:t>Special Achievements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2X more incidents than any other team member delivered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White paper on RPA Orchestration using open-source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Shark Tank demo planned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Contributed to KX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C1DB2-6BB1-4DDA-A4CC-E941C4E8934D}"/>
              </a:ext>
            </a:extLst>
          </p:cNvPr>
          <p:cNvSpPr txBox="1"/>
          <p:nvPr/>
        </p:nvSpPr>
        <p:spPr>
          <a:xfrm>
            <a:off x="267127" y="2950733"/>
            <a:ext cx="394970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66FF"/>
                </a:solidFill>
              </a:rPr>
              <a:t>Skills acquired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Oracle SaaS – </a:t>
            </a:r>
            <a:r>
              <a:rPr lang="en-US" sz="2400" b="1" dirty="0">
                <a:solidFill>
                  <a:srgbClr val="9933FF"/>
                </a:solidFill>
              </a:rPr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OCI –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9933FF"/>
                </a:solidFill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DevOps Tools –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9933FF"/>
                </a:solidFill>
              </a:rPr>
              <a:t>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Programing/Scripting Languages – </a:t>
            </a:r>
            <a:r>
              <a:rPr lang="en-US" sz="2400" b="1" dirty="0">
                <a:solidFill>
                  <a:srgbClr val="9933FF"/>
                </a:solidFill>
              </a:rPr>
              <a:t>2</a:t>
            </a:r>
            <a:endParaRPr lang="en-US" b="1" dirty="0">
              <a:solidFill>
                <a:srgbClr val="9933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Visualization tools - </a:t>
            </a:r>
            <a:r>
              <a:rPr lang="en-US" sz="2400" b="1" dirty="0">
                <a:solidFill>
                  <a:srgbClr val="9933FF"/>
                </a:solidFill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9A9C4-822C-477B-8AE2-0E33B893BB01}"/>
              </a:ext>
            </a:extLst>
          </p:cNvPr>
          <p:cNvSpPr txBox="1"/>
          <p:nvPr/>
        </p:nvSpPr>
        <p:spPr>
          <a:xfrm>
            <a:off x="6904229" y="2394754"/>
            <a:ext cx="475864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66FF"/>
                </a:solidFill>
              </a:rPr>
              <a:t>Accenture Trainings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 to date with all ethics and compliance trainings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TQ Score of </a:t>
            </a:r>
            <a:r>
              <a:rPr lang="en-US" b="1" dirty="0"/>
              <a:t>8/8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Completed all </a:t>
            </a:r>
            <a:r>
              <a:rPr lang="en-US" b="1" dirty="0"/>
              <a:t>DLF trainings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EA365-0D60-485F-B9AF-A042DB7DD980}"/>
              </a:ext>
            </a:extLst>
          </p:cNvPr>
          <p:cNvSpPr txBox="1"/>
          <p:nvPr/>
        </p:nvSpPr>
        <p:spPr>
          <a:xfrm>
            <a:off x="267127" y="5341234"/>
            <a:ext cx="562759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66FF"/>
                </a:solidFill>
              </a:rPr>
              <a:t>Sell while Deliver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Proposed a new Intelligent Cost estimator asset in for </a:t>
            </a:r>
            <a:r>
              <a:rPr lang="en-US" dirty="0" err="1"/>
              <a:t>myConcerto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Incased the headcount of the team from 3 to 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C8F9F3-9C82-4B07-8706-F8B46420F633}"/>
              </a:ext>
            </a:extLst>
          </p:cNvPr>
          <p:cNvSpPr txBox="1"/>
          <p:nvPr/>
        </p:nvSpPr>
        <p:spPr>
          <a:xfrm>
            <a:off x="6904229" y="4277177"/>
            <a:ext cx="475864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33FF"/>
                </a:solidFill>
              </a:rPr>
              <a:t>People Development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team members completed at least 1 Oracle certification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Took many internal KT sessions on DevOps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Planning for a Brown-bag session on UiPath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interviews taken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1A570A-3725-46EC-9CE8-ECB69A356002}"/>
              </a:ext>
            </a:extLst>
          </p:cNvPr>
          <p:cNvSpPr txBox="1"/>
          <p:nvPr/>
        </p:nvSpPr>
        <p:spPr>
          <a:xfrm>
            <a:off x="3895621" y="845299"/>
            <a:ext cx="2784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66FF"/>
                </a:solidFill>
              </a:rPr>
              <a:t>MAL- </a:t>
            </a:r>
            <a:r>
              <a:rPr lang="en-US" sz="2800" b="1" dirty="0">
                <a:solidFill>
                  <a:srgbClr val="9966FF"/>
                </a:solidFill>
              </a:rPr>
              <a:t>25</a:t>
            </a:r>
            <a:endParaRPr lang="en-US" b="1" dirty="0">
              <a:solidFill>
                <a:srgbClr val="99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066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D2CCE170635242803FCA94A267DB0A" ma:contentTypeVersion="11" ma:contentTypeDescription="Create a new document." ma:contentTypeScope="" ma:versionID="85fdac88d4c571fddaf178b5b9d1c3e9">
  <xsd:schema xmlns:xsd="http://www.w3.org/2001/XMLSchema" xmlns:xs="http://www.w3.org/2001/XMLSchema" xmlns:p="http://schemas.microsoft.com/office/2006/metadata/properties" xmlns:ns3="b5a56f8a-9ab9-4b92-b981-fe03571dda31" xmlns:ns4="843fce2b-914d-46e4-9ced-c14895b5d914" targetNamespace="http://schemas.microsoft.com/office/2006/metadata/properties" ma:root="true" ma:fieldsID="409af973d8e18891e70b87553244a2d1" ns3:_="" ns4:_="">
    <xsd:import namespace="b5a56f8a-9ab9-4b92-b981-fe03571dda31"/>
    <xsd:import namespace="843fce2b-914d-46e4-9ced-c14895b5d9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56f8a-9ab9-4b92-b981-fe03571dda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3fce2b-914d-46e4-9ced-c14895b5d91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AF9810-CC98-4678-9407-6CEF52C65417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843fce2b-914d-46e4-9ced-c14895b5d914"/>
    <ds:schemaRef ds:uri="http://schemas.openxmlformats.org/package/2006/metadata/core-properties"/>
    <ds:schemaRef ds:uri="http://schemas.microsoft.com/office/infopath/2007/PartnerControls"/>
    <ds:schemaRef ds:uri="b5a56f8a-9ab9-4b92-b981-fe03571dda3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EC8964-76B5-4FE6-8766-AF89923017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a56f8a-9ab9-4b92-b981-fe03571dda31"/>
    <ds:schemaRef ds:uri="843fce2b-914d-46e4-9ced-c14895b5d9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9EBEE5-35A5-4541-8159-A7262B13AF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4102</TotalTime>
  <Words>275</Words>
  <Application>Microsoft Office PowerPoint</Application>
  <PresentationFormat>Widescreen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Siddappa Shetty, Arun</dc:creator>
  <cp:lastModifiedBy>Siddappa Shetty, Arun</cp:lastModifiedBy>
  <cp:revision>35</cp:revision>
  <dcterms:created xsi:type="dcterms:W3CDTF">2021-07-06T11:28:13Z</dcterms:created>
  <dcterms:modified xsi:type="dcterms:W3CDTF">2022-08-09T07:10:30Z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0x01010026D2CCE170635242803FCA94A267DB0A</vt:lpwstr>
  </property>
</Properties>
</file>