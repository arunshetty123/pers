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4"/>
  </p:sldMasterIdLst>
  <p:notesMasterIdLst>
    <p:notesMasterId r:id="rId6"/>
  </p:notesMasterIdLst>
  <p:sldIdLst>
    <p:sldId id="50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appa Shetty, Arun" userId="06f02734-77c9-424f-89d8-e9575c581cc3" providerId="ADAL" clId="{E86DEFF0-F85F-4249-A8D2-BD299E11D93E}"/>
    <pc:docChg chg="modSld">
      <pc:chgData name="Siddappa Shetty, Arun" userId="06f02734-77c9-424f-89d8-e9575c581cc3" providerId="ADAL" clId="{E86DEFF0-F85F-4249-A8D2-BD299E11D93E}" dt="2022-08-24T11:27:35.196" v="23" actId="20577"/>
      <pc:docMkLst>
        <pc:docMk/>
      </pc:docMkLst>
      <pc:sldChg chg="modSp mod">
        <pc:chgData name="Siddappa Shetty, Arun" userId="06f02734-77c9-424f-89d8-e9575c581cc3" providerId="ADAL" clId="{E86DEFF0-F85F-4249-A8D2-BD299E11D93E}" dt="2022-08-24T11:27:35.196" v="23" actId="20577"/>
        <pc:sldMkLst>
          <pc:docMk/>
          <pc:sldMk cId="2463137560" sldId="503"/>
        </pc:sldMkLst>
        <pc:spChg chg="mod">
          <ac:chgData name="Siddappa Shetty, Arun" userId="06f02734-77c9-424f-89d8-e9575c581cc3" providerId="ADAL" clId="{E86DEFF0-F85F-4249-A8D2-BD299E11D93E}" dt="2022-08-24T11:27:35.196" v="23" actId="20577"/>
          <ac:spMkLst>
            <pc:docMk/>
            <pc:sldMk cId="2463137560" sldId="503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7A21E-A8A6-41A4-BBAC-495C341B0EAA}" type="datetimeFigureOut">
              <a:rPr lang="en-GB" smtClean="0"/>
              <a:t>24/08/2022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FD3727-1207-442F-844B-5F37FEAF6B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696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D3727-1207-442F-844B-5F37FEAF6BE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494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1828804"/>
            <a:ext cx="8572500" cy="4689475"/>
          </a:xfrm>
        </p:spPr>
        <p:txBody>
          <a:bodyPr/>
          <a:lstStyle>
            <a:lvl3pPr marL="514351" indent="-230188">
              <a:buFont typeface="Graphik" panose="020B0503030202060203" pitchFamily="34" charset="0"/>
              <a:buChar char="–"/>
              <a:defRPr/>
            </a:lvl3pPr>
            <a:lvl5pPr marL="857251" indent="-177800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Copyright 2017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50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Copyright 2017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0999" y="1828804"/>
            <a:ext cx="5715001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51" indent="-230188">
              <a:buFont typeface="Graphik" panose="020B0503030202060203" pitchFamily="34" charset="0"/>
              <a:buChar char="–"/>
              <a:defRPr sz="1600"/>
            </a:lvl3pPr>
            <a:lvl5pPr marL="857251" indent="-177800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0999" y="380999"/>
            <a:ext cx="5715001" cy="99060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4"/>
            <a:ext cx="5715001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51" indent="-230188">
              <a:buFont typeface="Graphik" panose="020B0503030202060203" pitchFamily="34" charset="0"/>
              <a:buChar char="–"/>
              <a:defRPr sz="1600"/>
            </a:lvl3pPr>
            <a:lvl5pPr marL="857251" indent="-177800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2010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Copyright 2017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0999" y="1828804"/>
            <a:ext cx="5715001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51" indent="-230188">
              <a:buFont typeface="Graphik" panose="020B0503030202060203" pitchFamily="34" charset="0"/>
              <a:buChar char="–"/>
              <a:defRPr sz="1600"/>
            </a:lvl3pPr>
            <a:lvl5pPr marL="857251" indent="-177800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1001" y="380999"/>
            <a:ext cx="11430000" cy="99060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sz="quarter" idx="19"/>
          </p:nvPr>
        </p:nvSpPr>
        <p:spPr>
          <a:xfrm>
            <a:off x="6096000" y="1828804"/>
            <a:ext cx="5715001" cy="46894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spcAft>
                <a:spcPts val="1200"/>
              </a:spcAft>
              <a:defRPr sz="2000"/>
            </a:lvl2pPr>
            <a:lvl3pPr marL="514351" indent="-230188">
              <a:buFont typeface="Graphik" panose="020B0503030202060203" pitchFamily="34" charset="0"/>
              <a:buChar char="–"/>
              <a:defRPr sz="1600"/>
            </a:lvl3pPr>
            <a:lvl5pPr marL="857251" indent="-177800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86341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284725"/>
            <a:ext cx="5715001" cy="1086879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600" b="1" cap="all" baseline="0"/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1" b="0" cap="all" baseline="0"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GB"/>
              <a:t>First subtitle</a:t>
            </a:r>
          </a:p>
          <a:p>
            <a:pPr lvl="1"/>
            <a:r>
              <a:rPr lang="en-GB"/>
              <a:t>Second SUBTITLE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Copyright 2017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2" y="380999"/>
            <a:ext cx="5715001" cy="99060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/>
          </p:nvPr>
        </p:nvSpPr>
        <p:spPr>
          <a:xfrm>
            <a:off x="381000" y="1828804"/>
            <a:ext cx="8572500" cy="4689475"/>
          </a:xfrm>
        </p:spPr>
        <p:txBody>
          <a:bodyPr/>
          <a:lstStyle>
            <a:lvl3pPr marL="514351" indent="-230188">
              <a:buFont typeface="Graphik" panose="020B0503030202060203" pitchFamily="34" charset="0"/>
              <a:buChar char="–"/>
              <a:defRPr/>
            </a:lvl3pPr>
            <a:lvl5pPr marL="857251" indent="-177800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97194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les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284725"/>
            <a:ext cx="5715001" cy="1086879"/>
          </a:xfrm>
        </p:spPr>
        <p:txBody>
          <a:bodyPr/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 sz="1600" b="1" cap="all" baseline="0"/>
            </a:lvl1pPr>
            <a:lvl2pPr marL="0" indent="0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None/>
              <a:defRPr sz="2601" b="0" cap="all" baseline="0">
                <a:latin typeface="Arial Black" panose="020B0A04020102020204" pitchFamily="34" charset="0"/>
              </a:defRPr>
            </a:lvl2pPr>
            <a:lvl3pPr>
              <a:lnSpc>
                <a:spcPct val="75000"/>
              </a:lnSpc>
              <a:spcAft>
                <a:spcPts val="0"/>
              </a:spcAft>
              <a:defRPr sz="2400" cap="all" baseline="0">
                <a:latin typeface="+mj-lt"/>
              </a:defRPr>
            </a:lvl3pPr>
          </a:lstStyle>
          <a:p>
            <a:pPr lvl="0"/>
            <a:r>
              <a:rPr lang="en-GB"/>
              <a:t>First subtitle</a:t>
            </a:r>
          </a:p>
          <a:p>
            <a:pPr lvl="1"/>
            <a:r>
              <a:rPr lang="en-GB"/>
              <a:t>Second SUBTITLE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Copyright 2017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2" y="380999"/>
            <a:ext cx="5715001" cy="99060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8"/>
          </p:nvPr>
        </p:nvSpPr>
        <p:spPr>
          <a:xfrm>
            <a:off x="381000" y="1828804"/>
            <a:ext cx="5715001" cy="4689475"/>
          </a:xfrm>
        </p:spPr>
        <p:txBody>
          <a:bodyPr/>
          <a:lstStyle>
            <a:lvl3pPr marL="514351" indent="-230188">
              <a:buFont typeface="Graphik" panose="020B0503030202060203" pitchFamily="34" charset="0"/>
              <a:buChar char="–"/>
              <a:defRPr/>
            </a:lvl3pPr>
            <a:lvl5pPr marL="857251" indent="-177800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8" name="Content Placeholder 11"/>
          <p:cNvSpPr>
            <a:spLocks noGrp="1"/>
          </p:cNvSpPr>
          <p:nvPr>
            <p:ph sz="quarter" idx="19"/>
          </p:nvPr>
        </p:nvSpPr>
        <p:spPr>
          <a:xfrm>
            <a:off x="6103621" y="1828805"/>
            <a:ext cx="5715001" cy="4689475"/>
          </a:xfrm>
        </p:spPr>
        <p:txBody>
          <a:bodyPr/>
          <a:lstStyle>
            <a:lvl3pPr marL="514351" indent="-230188">
              <a:buFont typeface="Graphik" panose="020B0503030202060203" pitchFamily="34" charset="0"/>
              <a:buChar char="–"/>
              <a:defRPr/>
            </a:lvl3pPr>
            <a:lvl5pPr marL="857251" indent="-177800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974804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Copyright 2017 Accenture. All rights reserved.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012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s Only: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Copyright 2017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C08D-23A9-440E-BCB9-AA1E9877CC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89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s Only: Dark">
    <p:bg>
      <p:bgPr>
        <a:gradFill>
          <a:gsLst>
            <a:gs pos="0">
              <a:srgbClr val="000088"/>
            </a:gs>
            <a:gs pos="93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Copyright 2017 Accenture.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AC08D-23A9-440E-BCB9-AA1E9877CC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425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1" y="380999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1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3" y="6519011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Copyright © 2017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4" y="6519011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F9AC08D-23A9-440E-BCB9-AA1E9877CC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817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</p:sldLayoutIdLst>
  <p:hf hdr="0" dt="0"/>
  <p:txStyles>
    <p:titleStyle>
      <a:lvl1pPr marL="0" indent="0" algn="l" defTabSz="914399" rtl="0" eaLnBrk="1" latinLnBrk="0" hangingPunct="1">
        <a:lnSpc>
          <a:spcPct val="70000"/>
        </a:lnSpc>
        <a:spcBef>
          <a:spcPct val="0"/>
        </a:spcBef>
        <a:buNone/>
        <a:defRPr sz="4000" b="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55562" indent="0" algn="l" defTabSz="914399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0" kern="1200" cap="none" baseline="0">
          <a:solidFill>
            <a:schemeClr val="tx1"/>
          </a:solidFill>
          <a:latin typeface="Arial Black" panose="020B0A04020102020204" pitchFamily="34" charset="0"/>
          <a:ea typeface="+mn-ea"/>
          <a:cs typeface="+mn-cs"/>
        </a:defRPr>
      </a:lvl1pPr>
      <a:lvl2pPr marL="285751" indent="-230188" algn="l" defTabSz="914399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14351" indent="-230188" algn="l" defTabSz="914399" rtl="0" eaLnBrk="1" latinLnBrk="0" hangingPunct="1">
        <a:lnSpc>
          <a:spcPct val="110000"/>
        </a:lnSpc>
        <a:spcBef>
          <a:spcPts val="0"/>
        </a:spcBef>
        <a:spcAft>
          <a:spcPts val="601"/>
        </a:spcAft>
        <a:buFont typeface="Graphik" panose="020B0503030202060203" pitchFamily="34" charset="0"/>
        <a:buChar char="–"/>
        <a:defRPr sz="1801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85801" indent="-171450" algn="l" defTabSz="914399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1" indent="-177800" algn="l" defTabSz="914399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1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3038" algn="l" defTabSz="91439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62" indent="0" algn="l" defTabSz="914399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62" indent="0" algn="l" defTabSz="914399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1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62" indent="0" algn="l" defTabSz="914399" rtl="0" eaLnBrk="1" latinLnBrk="0" hangingPunct="1">
        <a:lnSpc>
          <a:spcPct val="110000"/>
        </a:lnSpc>
        <a:spcBef>
          <a:spcPts val="0"/>
        </a:spcBef>
        <a:spcAft>
          <a:spcPts val="601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9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399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99" algn="l" defTabSz="914399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399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399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1" algn="l" defTabSz="914399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399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399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399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6942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9452">
          <p15:clr>
            <a:srgbClr val="F26B43"/>
          </p15:clr>
        </p15:guide>
        <p15:guide id="9" pos="295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4726">
          <p15:clr>
            <a:srgbClr val="F26B43"/>
          </p15:clr>
        </p15:guide>
        <p15:guide id="13" pos="2511">
          <p15:clr>
            <a:srgbClr val="F26B43"/>
          </p15:clr>
        </p15:guide>
        <p15:guide id="14" pos="9157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ct 17" hidden="1">
            <a:extLst>
              <a:ext uri="{FF2B5EF4-FFF2-40B4-BE49-F238E27FC236}">
                <a16:creationId xmlns:a16="http://schemas.microsoft.com/office/drawing/2014/main" id="{629392D8-15F6-4C1A-9F52-12E794E0CA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6" imgH="396" progId="TCLayout.ActiveDocument.1">
                  <p:embed/>
                </p:oleObj>
              </mc:Choice>
              <mc:Fallback>
                <p:oleObj name="think-cell Slide" r:id="rId5" imgW="396" imgH="396" progId="TCLayout.ActiveDocument.1">
                  <p:embed/>
                  <p:pic>
                    <p:nvPicPr>
                      <p:cNvPr id="18" name="Object 17" hidden="1">
                        <a:extLst>
                          <a:ext uri="{FF2B5EF4-FFF2-40B4-BE49-F238E27FC236}">
                            <a16:creationId xmlns:a16="http://schemas.microsoft.com/office/drawing/2014/main" id="{629392D8-15F6-4C1A-9F52-12E794E0CA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5C7BBD33-C5AE-4408-BF6B-AD01260F982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23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4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  <a:sym typeface="Arial Black" panose="020B0A04020102020204" pitchFamily="34" charset="0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40483" y="884237"/>
            <a:ext cx="5251020" cy="1841874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2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1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Calibri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1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Copyright 2020 Accenture. All rights reserved.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9144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GB" sz="1001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pPr marL="0" marR="0" lvl="0" indent="0" algn="r" defTabSz="9144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001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defTabSz="914423">
              <a:defRPr/>
            </a:pPr>
            <a:r>
              <a:rPr lang="en-GB" sz="3000" b="1" cap="none" dirty="0">
                <a:solidFill>
                  <a:srgbClr val="A100FF"/>
                </a:solidFill>
                <a:latin typeface="+mj-lt"/>
              </a:rPr>
              <a:t>Arun Siddappa Shetty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5758502" y="884236"/>
            <a:ext cx="6093014" cy="18418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numCol="2" anchor="t"/>
          <a:lstStyle/>
          <a:p>
            <a:pPr defTabSz="914423"/>
            <a:r>
              <a:rPr lang="en-GB" altLang="de-DE" sz="1200" b="1">
                <a:solidFill>
                  <a:schemeClr val="accent1"/>
                </a:solidFill>
                <a:latin typeface="+mj-lt"/>
              </a:rPr>
              <a:t>Professional experience</a:t>
            </a:r>
          </a:p>
          <a:p>
            <a:pPr marL="240030" lvl="0" indent="-2400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000" b="1">
                <a:solidFill>
                  <a:prstClr val="black"/>
                </a:solidFill>
                <a:cs typeface="Arial" panose="020B0604020202020204" pitchFamily="34" charset="0"/>
              </a:rPr>
              <a:t>Functional/Technical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GB" sz="1000">
                <a:cs typeface="Arial"/>
              </a:rPr>
              <a:t>Omnichannel Architectures (B2C/B2B)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GB" sz="1000">
                <a:cs typeface="Arial"/>
              </a:rPr>
              <a:t>Solution / Enterprise Architecture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GB" sz="1000">
                <a:solidFill>
                  <a:prstClr val="black"/>
                </a:solidFill>
                <a:cs typeface="Arial" panose="020B0604020202020204" pitchFamily="34" charset="0"/>
              </a:rPr>
              <a:t>Agile and Scrum methodology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GB" sz="1000">
                <a:solidFill>
                  <a:prstClr val="black"/>
                </a:solidFill>
                <a:cs typeface="Arial" panose="020B0604020202020204" pitchFamily="34" charset="0"/>
              </a:rPr>
              <a:t>Data Modelling, APIs &amp; Microservices 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GB" sz="100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40030" lvl="0" indent="-2400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050" b="1">
                <a:solidFill>
                  <a:prstClr val="black"/>
                </a:solidFill>
                <a:cs typeface="Arial" panose="020B0604020202020204" pitchFamily="34" charset="0"/>
              </a:rPr>
              <a:t>Certifications</a:t>
            </a:r>
            <a:endParaRPr lang="en-GB" sz="1000" b="1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Wingdings" panose="05000000000000000000" pitchFamily="2" charset="2"/>
              <a:buChar char="§"/>
              <a:defRPr/>
            </a:pPr>
            <a:r>
              <a:rPr lang="en-GB" sz="1000">
                <a:solidFill>
                  <a:prstClr val="black"/>
                </a:solidFill>
                <a:cs typeface="Arial" panose="020B0604020202020204" pitchFamily="34" charset="0"/>
              </a:rPr>
              <a:t>Oracle Industry Solution (DX4C)</a:t>
            </a:r>
          </a:p>
          <a:p>
            <a:pPr marL="171450" indent="-17145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Wingdings" panose="05000000000000000000" pitchFamily="2" charset="2"/>
              <a:buChar char="§"/>
              <a:defRPr/>
            </a:pPr>
            <a:r>
              <a:rPr lang="en-GB" sz="1000">
                <a:cs typeface="Arial"/>
              </a:rPr>
              <a:t>Oracle CX (Service, Sales and Field Service)</a:t>
            </a:r>
            <a:endParaRPr lang="en-GB" sz="1000">
              <a:cs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Wingdings" panose="05000000000000000000" pitchFamily="2" charset="2"/>
              <a:buChar char="§"/>
              <a:defRPr/>
            </a:pPr>
            <a:r>
              <a:rPr lang="en-GB" sz="1000">
                <a:solidFill>
                  <a:prstClr val="black"/>
                </a:solidFill>
                <a:cs typeface="Arial" panose="020B0604020202020204" pitchFamily="34" charset="0"/>
              </a:rPr>
              <a:t>Oracle Commerce Cloud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endParaRPr lang="en-GB" sz="100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40030" lvl="0" indent="-2400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050" b="1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40030" lvl="0" indent="-2400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050" b="1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40030" lvl="0" indent="-2400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050" b="1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40030" indent="-2400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GB" sz="1050" b="1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240030" lvl="0" indent="-24003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1050" b="1">
                <a:solidFill>
                  <a:prstClr val="black"/>
                </a:solidFill>
                <a:cs typeface="Arial" panose="020B0604020202020204" pitchFamily="34" charset="0"/>
              </a:rPr>
              <a:t>Industry</a:t>
            </a:r>
            <a:endParaRPr lang="en-GB" sz="100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GB" sz="1000">
                <a:solidFill>
                  <a:prstClr val="black"/>
                </a:solidFill>
                <a:cs typeface="Arial" panose="020B0604020202020204" pitchFamily="34" charset="0"/>
              </a:rPr>
              <a:t>Telco B2C/ B2B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GB" sz="1000">
                <a:solidFill>
                  <a:prstClr val="black"/>
                </a:solidFill>
                <a:cs typeface="Arial" panose="020B0604020202020204" pitchFamily="34" charset="0"/>
              </a:rPr>
              <a:t>H&amp;PS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GB" sz="1000">
                <a:solidFill>
                  <a:prstClr val="black"/>
                </a:solidFill>
                <a:cs typeface="Arial" panose="020B0604020202020204" pitchFamily="34" charset="0"/>
              </a:rPr>
              <a:t>Utilities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endParaRPr lang="en-GB" sz="1000" b="1">
              <a:solidFill>
                <a:prstClr val="black"/>
              </a:solidFill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defRPr/>
            </a:pPr>
            <a:r>
              <a:rPr lang="en-GB" sz="1000" b="1">
                <a:solidFill>
                  <a:prstClr val="black"/>
                </a:solidFill>
                <a:cs typeface="Arial" panose="020B0604020202020204" pitchFamily="34" charset="0"/>
              </a:rPr>
              <a:t>Technologies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GB" sz="1000">
                <a:solidFill>
                  <a:prstClr val="black"/>
                </a:solidFill>
                <a:cs typeface="Arial" panose="020B0604020202020204" pitchFamily="34" charset="0"/>
              </a:rPr>
              <a:t>API &amp; Mise: Spring, Node </a:t>
            </a:r>
            <a:r>
              <a:rPr lang="en-GB" sz="1000" err="1">
                <a:solidFill>
                  <a:prstClr val="black"/>
                </a:solidFill>
                <a:cs typeface="Arial" panose="020B0604020202020204" pitchFamily="34" charset="0"/>
              </a:rPr>
              <a:t>Js</a:t>
            </a:r>
            <a:endParaRPr lang="en-GB" sz="100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GB" sz="1000">
                <a:solidFill>
                  <a:prstClr val="black"/>
                </a:solidFill>
                <a:cs typeface="Arial" panose="020B0604020202020204" pitchFamily="34" charset="0"/>
              </a:rPr>
              <a:t>Web Apps: Angular, J2ee, React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GB" sz="1000">
                <a:solidFill>
                  <a:prstClr val="black"/>
                </a:solidFill>
                <a:cs typeface="Arial" panose="020B0604020202020204" pitchFamily="34" charset="0"/>
              </a:rPr>
              <a:t>DBs: Oracle, Mongo</a:t>
            </a: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GB" sz="1000">
                <a:solidFill>
                  <a:prstClr val="black"/>
                </a:solidFill>
                <a:cs typeface="Arial" panose="020B0604020202020204" pitchFamily="34" charset="0"/>
              </a:rPr>
              <a:t>PaaS: AWS, VBCS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GB" sz="1000">
                <a:solidFill>
                  <a:prstClr val="black"/>
                </a:solidFill>
                <a:cs typeface="Arial" panose="020B0604020202020204" pitchFamily="34" charset="0"/>
              </a:rPr>
              <a:t>SaaS: Oracle CX / DX4C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defRPr/>
            </a:pPr>
            <a:endParaRPr lang="en-GB" sz="100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defRPr/>
            </a:pPr>
            <a:endParaRPr lang="en-GB" sz="1000" b="1">
              <a:solidFill>
                <a:prstClr val="black"/>
              </a:solidFill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prstClr val="black"/>
              </a:buClr>
              <a:defRPr/>
            </a:pPr>
            <a:endParaRPr lang="en-GB" sz="100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defTabSz="914423"/>
            <a:endParaRPr lang="en-GB" altLang="de-DE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340484" y="2861044"/>
            <a:ext cx="5262306" cy="365405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anchor="t"/>
          <a:lstStyle/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e-DE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Professional background</a:t>
            </a:r>
          </a:p>
          <a:p>
            <a:pPr defTabSz="914423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prstClr val="black"/>
              </a:buClr>
              <a:defRPr/>
            </a:pPr>
            <a:r>
              <a:rPr lang="en-GB" sz="1000">
                <a:cs typeface="Arial"/>
              </a:rPr>
              <a:t>Manjit Singh is a </a:t>
            </a:r>
            <a:r>
              <a:rPr lang="en-GB" sz="1000" b="1">
                <a:cs typeface="Arial"/>
              </a:rPr>
              <a:t>Cloud Trans &amp; </a:t>
            </a:r>
            <a:r>
              <a:rPr lang="en-GB" sz="1000" b="1" err="1">
                <a:cs typeface="Arial"/>
              </a:rPr>
              <a:t>Mig</a:t>
            </a:r>
            <a:r>
              <a:rPr lang="en-GB" sz="1000" b="1">
                <a:cs typeface="Arial"/>
              </a:rPr>
              <a:t> Senior Analyst </a:t>
            </a:r>
            <a:r>
              <a:rPr lang="en-GB" sz="1000">
                <a:cs typeface="Arial"/>
              </a:rPr>
              <a:t>in ATC India for IPS Oracle CX.</a:t>
            </a:r>
          </a:p>
          <a:p>
            <a:pPr defTabSz="914423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prstClr val="black"/>
              </a:buClr>
              <a:defRPr/>
            </a:pPr>
            <a:r>
              <a:rPr lang="en-GB" sz="1000">
                <a:cs typeface="Arial" panose="020B0604020202020204" pitchFamily="34" charset="0"/>
              </a:rPr>
              <a:t>With more than </a:t>
            </a:r>
            <a:r>
              <a:rPr lang="en-GB" sz="1000" b="1">
                <a:cs typeface="Arial" panose="020B0604020202020204" pitchFamily="34" charset="0"/>
              </a:rPr>
              <a:t>6 years </a:t>
            </a:r>
            <a:r>
              <a:rPr lang="en-GB" sz="1000">
                <a:cs typeface="Arial" panose="020B0604020202020204" pitchFamily="34" charset="0"/>
              </a:rPr>
              <a:t>of experience as </a:t>
            </a:r>
            <a:r>
              <a:rPr lang="en-GB" sz="1000" b="1">
                <a:cs typeface="Arial" panose="020B0604020202020204" pitchFamily="34" charset="0"/>
              </a:rPr>
              <a:t>Senior Cloud Implementation Expert </a:t>
            </a:r>
            <a:r>
              <a:rPr lang="en-GB" sz="1000">
                <a:cs typeface="Arial" panose="020B0604020202020204" pitchFamily="34" charset="0"/>
              </a:rPr>
              <a:t>he has delivered multiple cloud implementation project by playing a key role of an </a:t>
            </a:r>
            <a:r>
              <a:rPr lang="en-GB" sz="1000" b="1">
                <a:cs typeface="Arial" panose="020B0604020202020204" pitchFamily="34" charset="0"/>
              </a:rPr>
              <a:t>SME</a:t>
            </a:r>
            <a:r>
              <a:rPr lang="en-GB" sz="1000">
                <a:cs typeface="Arial" panose="020B0604020202020204" pitchFamily="34" charset="0"/>
              </a:rPr>
              <a:t> and </a:t>
            </a:r>
            <a:r>
              <a:rPr lang="en-GB" sz="1000" b="1">
                <a:cs typeface="Arial" panose="020B0604020202020204" pitchFamily="34" charset="0"/>
              </a:rPr>
              <a:t>leading the team</a:t>
            </a:r>
            <a:r>
              <a:rPr lang="en-GB" sz="1000">
                <a:cs typeface="Arial" panose="020B0604020202020204" pitchFamily="34" charset="0"/>
              </a:rPr>
              <a:t>, specialized in multiple domains including CMT, Insurance, Utilities, H&amp;PS.</a:t>
            </a:r>
          </a:p>
          <a:p>
            <a:pPr lvl="0" defTabSz="914423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prstClr val="black"/>
              </a:buClr>
              <a:defRPr/>
            </a:pPr>
            <a:r>
              <a:rPr lang="en-GB" sz="1000">
                <a:cs typeface="Arial" panose="020B0604020202020204" pitchFamily="34" charset="0"/>
              </a:rPr>
              <a:t>Manjit is an extremely organized person with the ability to work/lead both </a:t>
            </a:r>
            <a:r>
              <a:rPr lang="en-US" sz="1000">
                <a:cs typeface="Arial" panose="020B0604020202020204" pitchFamily="34" charset="0"/>
              </a:rPr>
              <a:t>independently of his own initiative or as part of a team</a:t>
            </a:r>
            <a:r>
              <a:rPr lang="en-GB" sz="1000">
                <a:cs typeface="Arial" panose="020B0604020202020204" pitchFamily="34" charset="0"/>
              </a:rPr>
              <a:t>.</a:t>
            </a:r>
          </a:p>
          <a:p>
            <a:pPr lvl="0" defTabSz="914423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>
                <a:prstClr val="black"/>
              </a:buClr>
              <a:defRPr/>
            </a:pPr>
            <a:r>
              <a:rPr lang="en-US" sz="1000">
                <a:cs typeface="Arial" panose="020B0604020202020204" pitchFamily="34" charset="0"/>
              </a:rPr>
              <a:t>Passionate about Innovation, Technology, Culture, People, Sustainability, Astrophile and Sports. A fitness enthusiast, cinema buff, avid traveler and melophile.</a:t>
            </a:r>
            <a:endParaRPr lang="en-GB" sz="1000">
              <a:cs typeface="Arial" panose="020B0604020202020204" pitchFamily="34" charset="0"/>
            </a:endParaRPr>
          </a:p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de-DE" sz="1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Remarkable Achievements</a:t>
            </a:r>
          </a:p>
          <a:p>
            <a:pPr marL="171450" lvl="0" indent="-171450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000">
                <a:cs typeface="Arial" panose="020B0604020202020204" pitchFamily="34" charset="0"/>
              </a:rPr>
              <a:t>I have received </a:t>
            </a:r>
            <a:r>
              <a:rPr lang="en-US" altLang="en-US" sz="1000" b="1">
                <a:cs typeface="Arial" panose="020B0604020202020204" pitchFamily="34" charset="0"/>
              </a:rPr>
              <a:t>Accenture Celebrates Excellence Awards (ACE) - Client &amp; Customer - FY20 Q2</a:t>
            </a:r>
            <a:r>
              <a:rPr lang="en-US" altLang="en-US" sz="1000">
                <a:cs typeface="Arial" panose="020B0604020202020204" pitchFamily="34" charset="0"/>
              </a:rPr>
              <a:t> for the contributions that help Accenture consistently deliver value to our Clients, People and our Organization.</a:t>
            </a:r>
          </a:p>
          <a:p>
            <a:pPr marL="171450" lvl="0" indent="-171450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000">
                <a:cs typeface="Arial" panose="020B0604020202020204" pitchFamily="34" charset="0"/>
              </a:rPr>
              <a:t>I have received </a:t>
            </a:r>
            <a:r>
              <a:rPr lang="en-US" altLang="en-US" sz="1000" b="1">
                <a:cs typeface="Arial" panose="020B0604020202020204" pitchFamily="34" charset="0"/>
              </a:rPr>
              <a:t>Apex Awards Fiscal FY20 Q1,Q2 (Team Award Delivery &amp; Profitability)</a:t>
            </a:r>
            <a:r>
              <a:rPr lang="en-US" altLang="en-US" sz="1000">
                <a:cs typeface="Arial" panose="020B0604020202020204" pitchFamily="34" charset="0"/>
              </a:rPr>
              <a:t> for contributing to successful delivery and higher contract profitability and making an impact on the client value creation.</a:t>
            </a:r>
          </a:p>
          <a:p>
            <a:pPr marL="171450" lvl="0" indent="-171450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en-US" sz="1000">
                <a:cs typeface="Arial" panose="020B0604020202020204" pitchFamily="34" charset="0"/>
              </a:rPr>
              <a:t>Received many recognition and appreciations from my peers, supervisors, managers and leadership during my tenure in Accenture.</a:t>
            </a:r>
          </a:p>
          <a:p>
            <a:pPr marL="171450" lvl="0" indent="-171450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de-DE" sz="1000">
                <a:cs typeface="Arial" panose="020B0604020202020204" pitchFamily="34" charset="0"/>
              </a:rPr>
              <a:t>Contributed to </a:t>
            </a:r>
            <a:r>
              <a:rPr lang="en-US" altLang="de-DE" sz="1000" b="1">
                <a:cs typeface="Arial" panose="020B0604020202020204" pitchFamily="34" charset="0"/>
              </a:rPr>
              <a:t>Client Co Innovation, Capability and Asset Extraction</a:t>
            </a:r>
            <a:r>
              <a:rPr lang="en-US" altLang="de-DE" sz="1000">
                <a:cs typeface="Arial" panose="020B0604020202020204" pitchFamily="34" charset="0"/>
              </a:rPr>
              <a:t>.</a:t>
            </a:r>
            <a:endParaRPr lang="en-GB" altLang="de-DE" sz="1000">
              <a:cs typeface="Arial" panose="020B0604020202020204" pitchFamily="34" charset="0"/>
            </a:endParaRPr>
          </a:p>
          <a:p>
            <a:pPr marL="0" marR="0" lvl="0" indent="0" algn="l" defTabSz="9144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altLang="de-DE" sz="12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5758502" y="2861043"/>
            <a:ext cx="6093014" cy="365405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/>
          <a:lstStyle/>
          <a:p>
            <a:pPr defTabSz="914423"/>
            <a:r>
              <a:rPr lang="en-GB" altLang="de-DE" sz="1200" b="1" dirty="0">
                <a:solidFill>
                  <a:schemeClr val="accent1"/>
                </a:solidFill>
                <a:latin typeface="+mj-lt"/>
              </a:rPr>
              <a:t>Relevant Project Experience (extract)</a:t>
            </a:r>
            <a:endParaRPr lang="en-GB" sz="1000" b="1" dirty="0">
              <a:solidFill>
                <a:prstClr val="black"/>
              </a:solidFill>
              <a:latin typeface="+mj-lt"/>
              <a:cs typeface="Arial" panose="020B0604020202020204" pitchFamily="34" charset="0"/>
            </a:endParaRPr>
          </a:p>
          <a:p>
            <a:pPr marL="182563" lvl="0" indent="-182563" eaLnBrk="0" hangingPunct="0">
              <a:spcBef>
                <a:spcPct val="0"/>
              </a:spcBef>
              <a:buClr>
                <a:srgbClr val="000000"/>
              </a:buClr>
            </a:pPr>
            <a:r>
              <a:rPr lang="en-GB" sz="1000" b="1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Module lead – DX4C Buying X</a:t>
            </a:r>
            <a:endParaRPr lang="en-US" sz="1000" dirty="0">
              <a:solidFill>
                <a:prstClr val="black"/>
              </a:solidFill>
              <a:latin typeface="+mj-lt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End to end responsibility to design and deliver the storefront use case of DX4C BuyingX offering which includes preparation of an api collection according to the business requirement.</a:t>
            </a:r>
          </a:p>
          <a:p>
            <a:pPr marL="182563" indent="-182563" eaLnBrk="0" hangingPunct="0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Contributing TMF &amp; Accenture collaboration, to prepare multichannel use cases around DX4C BuyingX, DX4C </a:t>
            </a:r>
            <a:r>
              <a:rPr lang="en-US" sz="1000" dirty="0" err="1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CareX</a:t>
            </a:r>
            <a:r>
              <a:rPr lang="en-US" sz="10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 and Commerce cloud application.</a:t>
            </a:r>
          </a:p>
          <a:p>
            <a:pPr marL="182563" lvl="0" indent="-182563" eaLnBrk="0" hangingPunct="0">
              <a:spcBef>
                <a:spcPct val="0"/>
              </a:spcBef>
              <a:buClr>
                <a:srgbClr val="000000"/>
              </a:buClr>
            </a:pPr>
            <a:r>
              <a:rPr lang="en-GB" sz="1000" b="1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Senior  Developer for Telco Client, USA</a:t>
            </a:r>
            <a:endParaRPr lang="en-US" sz="1000" dirty="0">
              <a:solidFill>
                <a:prstClr val="black"/>
              </a:solidFill>
              <a:latin typeface="+mj-lt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I have worked with Onshore and Client on solutioning of complex Use Cases and developing assets to create business for the Client using innovation and automation.</a:t>
            </a:r>
          </a:p>
          <a:p>
            <a:pPr marL="182563" indent="-182563" eaLnBrk="0" hangingPunct="0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b="0" dirty="0"/>
              <a:t>Worked on the assessment and delivery of the solution for the client which includes migration of all the data from Oracle Service Cloud and Sales Cloud to a data lake system</a:t>
            </a:r>
            <a:r>
              <a:rPr lang="en-US" sz="10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.</a:t>
            </a:r>
          </a:p>
          <a:p>
            <a:pPr eaLnBrk="0" hangingPunct="0">
              <a:spcBef>
                <a:spcPct val="0"/>
              </a:spcBef>
              <a:buClr>
                <a:srgbClr val="000000"/>
              </a:buClr>
            </a:pPr>
            <a:r>
              <a:rPr lang="en-US" sz="1000" b="1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Asset Development – MVP for DX4C</a:t>
            </a:r>
            <a:endParaRPr lang="en-US" sz="1000" dirty="0">
              <a:solidFill>
                <a:prstClr val="black"/>
              </a:solidFill>
              <a:latin typeface="+mj-lt"/>
              <a:cs typeface="Arial" panose="020B0604020202020204" pitchFamily="34" charset="0"/>
            </a:endParaRPr>
          </a:p>
          <a:p>
            <a:pPr marL="171450" indent="-171450" eaLnBrk="0" hangingPunct="0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Preparing MVP solution that will help Client On-Premise application to configure their target environment in an automated way with very minimal </a:t>
            </a:r>
            <a:r>
              <a:rPr lang="en-US" sz="100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manual intervention.</a:t>
            </a:r>
            <a:endParaRPr lang="en-US" sz="1000" dirty="0">
              <a:solidFill>
                <a:prstClr val="black"/>
              </a:solidFill>
              <a:latin typeface="+mj-lt"/>
              <a:cs typeface="Arial" panose="020B0604020202020204" pitchFamily="34" charset="0"/>
            </a:endParaRPr>
          </a:p>
          <a:p>
            <a:pPr marL="171450" indent="-171450" eaLnBrk="0" hangingPunct="0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Ensuring performance, stability, agility and security of the asset before it being deployed to the client environment.</a:t>
            </a:r>
          </a:p>
          <a:p>
            <a:pPr lvl="0" eaLnBrk="0" hangingPunct="0">
              <a:spcBef>
                <a:spcPct val="0"/>
              </a:spcBef>
              <a:buClr>
                <a:srgbClr val="000000"/>
              </a:buClr>
            </a:pPr>
            <a:r>
              <a:rPr lang="en-GB" sz="1000" b="1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CX SME</a:t>
            </a:r>
          </a:p>
          <a:p>
            <a:pPr marL="182563" lvl="0" indent="-182563" eaLnBrk="0" hangingPunct="0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Working as technical lead and delivering for integration, data mapping, customization CPMs, workflows, reports and BUI extensions to implement business requirement. Integration with multiple system for scheduling and managing information.</a:t>
            </a:r>
          </a:p>
          <a:p>
            <a:pPr marL="171450" lvl="0" indent="-171450" eaLnBrk="0" hangingPunct="0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Working as a Cloud Implementation Senior Developer </a:t>
            </a:r>
            <a:r>
              <a:rPr lang="en-GB" sz="1000" dirty="0">
                <a:solidFill>
                  <a:prstClr val="black"/>
                </a:solidFill>
                <a:latin typeface="+mj-lt"/>
                <a:cs typeface="Arial" panose="020B0604020202020204" pitchFamily="34" charset="0"/>
              </a:rPr>
              <a:t>Leading development teams for the integration of </a:t>
            </a:r>
            <a:r>
              <a:rPr lang="en-GB" altLang="zh-SG" sz="1000" dirty="0">
                <a:solidFill>
                  <a:prstClr val="black"/>
                </a:solidFill>
                <a:latin typeface="+mj-lt"/>
                <a:ea typeface="SimSun" pitchFamily="2" charset="-122"/>
                <a:cs typeface="Arial" charset="0"/>
              </a:rPr>
              <a:t>Oracle Commerce solution into the BSS client landscape for the B2C market. </a:t>
            </a:r>
          </a:p>
          <a:p>
            <a:pPr lvl="0" eaLnBrk="0" hangingPunct="0">
              <a:spcBef>
                <a:spcPct val="0"/>
              </a:spcBef>
              <a:buClr>
                <a:srgbClr val="000000"/>
              </a:buClr>
            </a:pPr>
            <a:endParaRPr lang="en-GB" sz="1000" dirty="0">
              <a:solidFill>
                <a:prstClr val="black"/>
              </a:solidFill>
              <a:latin typeface="+mj-lt"/>
              <a:cs typeface="Arial" panose="020B0604020202020204" pitchFamily="34" charset="0"/>
            </a:endParaRPr>
          </a:p>
          <a:p>
            <a:pPr defTabSz="914423"/>
            <a:endParaRPr lang="en-GB" altLang="de-DE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5" name="Rectangle 39"/>
          <p:cNvSpPr>
            <a:spLocks noChangeArrowheads="1"/>
          </p:cNvSpPr>
          <p:nvPr/>
        </p:nvSpPr>
        <p:spPr bwMode="auto">
          <a:xfrm>
            <a:off x="1880205" y="955124"/>
            <a:ext cx="3731937" cy="1601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2223" tIns="31110" rIns="62223" bIns="31110">
            <a:spAutoFit/>
          </a:bodyPr>
          <a:lstStyle/>
          <a:p>
            <a:pPr marL="0" marR="0" lvl="0" indent="0" algn="l" defTabSz="49917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Manjit Singh Arora</a:t>
            </a:r>
          </a:p>
          <a:p>
            <a:pPr marL="0" marR="0" lvl="0" indent="0" algn="l" defTabSz="499171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prstClr val="black">
                    <a:lumMod val="50000"/>
                  </a:prstClr>
                </a:solidFill>
                <a:latin typeface="+mj-lt"/>
                <a:cs typeface="Arial" panose="020B0604020202020204" pitchFamily="34" charset="0"/>
              </a:rPr>
              <a:t>Accenture Technology Centre</a:t>
            </a:r>
          </a:p>
          <a:p>
            <a:pPr marL="0" marR="0" lvl="0" indent="0" algn="l" defTabSz="499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prstClr val="black">
                    <a:lumMod val="50000"/>
                  </a:prstClr>
                </a:solidFill>
                <a:latin typeface="+mj-lt"/>
                <a:cs typeface="Arial" panose="020B0604020202020204" pitchFamily="34" charset="0"/>
              </a:rPr>
              <a:t>Cloud Transformation &amp; Migration Senior Analyst</a:t>
            </a:r>
          </a:p>
          <a:p>
            <a:pPr defTabSz="499171">
              <a:defRPr/>
            </a:pPr>
            <a:r>
              <a:rPr lang="en-GB" sz="1000" dirty="0">
                <a:solidFill>
                  <a:prstClr val="black">
                    <a:lumMod val="50000"/>
                  </a:prstClr>
                </a:solidFill>
                <a:latin typeface="+mj-lt"/>
                <a:cs typeface="Arial" panose="020B0604020202020204" pitchFamily="34" charset="0"/>
              </a:rPr>
              <a:t>IPS Oracle CX </a:t>
            </a:r>
          </a:p>
          <a:p>
            <a:pPr marL="0" marR="0" lvl="0" indent="0" algn="l" defTabSz="499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+mj-lt"/>
              <a:cs typeface="Arial" panose="020B0604020202020204" pitchFamily="34" charset="0"/>
            </a:endParaRPr>
          </a:p>
          <a:p>
            <a:pPr defTabSz="499171"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Accenture India</a:t>
            </a:r>
          </a:p>
          <a:p>
            <a:pPr defTabSz="499171">
              <a:defRPr/>
            </a:pPr>
            <a:r>
              <a:rPr lang="en-GB" sz="1000" dirty="0">
                <a:solidFill>
                  <a:prstClr val="black">
                    <a:lumMod val="50000"/>
                  </a:prstClr>
                </a:solidFill>
                <a:latin typeface="+mj-lt"/>
                <a:cs typeface="Arial" panose="020B0604020202020204" pitchFamily="34" charset="0"/>
              </a:rPr>
              <a:t>MDC2B, Plant 3 Godrej &amp; Boyce Complex, Vikhroli, Mumbai</a:t>
            </a:r>
          </a:p>
          <a:p>
            <a:pPr defTabSz="499171">
              <a:defRPr/>
            </a:pP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+mj-lt"/>
              <a:cs typeface="Arial" panose="020B0604020202020204" pitchFamily="34" charset="0"/>
            </a:endParaRPr>
          </a:p>
          <a:p>
            <a:pPr marL="0" marR="0" lvl="0" indent="0" algn="l" defTabSz="499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Phone: +</a:t>
            </a:r>
            <a:r>
              <a:rPr lang="en-GB" sz="1000" dirty="0">
                <a:solidFill>
                  <a:prstClr val="black">
                    <a:lumMod val="50000"/>
                  </a:prstClr>
                </a:solidFill>
                <a:latin typeface="+mj-lt"/>
                <a:cs typeface="Arial" panose="020B0604020202020204" pitchFamily="34" charset="0"/>
              </a:rPr>
              <a:t>91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 809 776 5855</a:t>
            </a:r>
          </a:p>
          <a:p>
            <a:pPr marL="0" marR="0" lvl="0" indent="0" algn="l" defTabSz="499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+mj-lt"/>
                <a:cs typeface="Arial" panose="020B0604020202020204" pitchFamily="34" charset="0"/>
              </a:rPr>
              <a:t>manjit.singh.arora@accenture.com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D32CB79-B857-4834-A1C5-69F29EAACD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77" b="9977"/>
          <a:stretch/>
        </p:blipFill>
        <p:spPr>
          <a:xfrm>
            <a:off x="478608" y="1023035"/>
            <a:ext cx="1328417" cy="1328417"/>
          </a:xfrm>
          <a:prstGeom prst="ellipse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Picture 20" descr="A picture containing drawing, table&#10;&#10;Description automatically generated">
            <a:extLst>
              <a:ext uri="{FF2B5EF4-FFF2-40B4-BE49-F238E27FC236}">
                <a16:creationId xmlns:a16="http://schemas.microsoft.com/office/drawing/2014/main" id="{2E219D05-7643-4BC7-894B-AAE5BEFFA7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0765" y="163295"/>
            <a:ext cx="1390754" cy="4710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99062F-034F-4CE5-94EA-CEF9748A24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459" y="912034"/>
            <a:ext cx="768043" cy="4172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B5B27D-043C-4898-9F88-8B02182BCD39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969" y="2476072"/>
            <a:ext cx="1135151" cy="2028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3137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6uB6HLBQjqrb2fXBvoTpg"/>
</p:tagLst>
</file>

<file path=ppt/theme/theme1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Master_Arial_2017 v1" id="{BFFC7005-D7BE-40E3-83B0-367A400EF32B}" vid="{9EDCCE36-7FD1-489E-AC77-A235F91A62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382DBD601A5844BA68F97EA63DD3A6" ma:contentTypeVersion="12" ma:contentTypeDescription="Create a new document." ma:contentTypeScope="" ma:versionID="7d3a16dd526344e6fcd876d84eedea64">
  <xsd:schema xmlns:xsd="http://www.w3.org/2001/XMLSchema" xmlns:xs="http://www.w3.org/2001/XMLSchema" xmlns:p="http://schemas.microsoft.com/office/2006/metadata/properties" xmlns:ns2="e888293b-431f-4d22-ad83-af71688758e8" xmlns:ns3="f4051ca4-5e17-45e3-aa57-3a59add6660e" targetNamespace="http://schemas.microsoft.com/office/2006/metadata/properties" ma:root="true" ma:fieldsID="0c0cfbdd69b3ebc1f9a872ceb2a8d1d8" ns2:_="" ns3:_="">
    <xsd:import namespace="e888293b-431f-4d22-ad83-af71688758e8"/>
    <xsd:import namespace="f4051ca4-5e17-45e3-aa57-3a59add66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8293b-431f-4d22-ad83-af71688758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051ca4-5e17-45e3-aa57-3a59add6660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4051ca4-5e17-45e3-aa57-3a59add6660e">
      <UserInfo>
        <DisplayName>Troina, Luca</DisplayName>
        <AccountId>68</AccountId>
        <AccountType/>
      </UserInfo>
      <UserInfo>
        <DisplayName>Paolini, David</DisplayName>
        <AccountId>69</AccountId>
        <AccountType/>
      </UserInfo>
      <UserInfo>
        <DisplayName>Brogi, Francesco</DisplayName>
        <AccountId>57</AccountId>
        <AccountType/>
      </UserInfo>
      <UserInfo>
        <DisplayName>Orlando, Alfonso</DisplayName>
        <AccountId>65</AccountId>
        <AccountType/>
      </UserInfo>
      <UserInfo>
        <DisplayName>Destino, Matteo</DisplayName>
        <AccountId>71</AccountId>
        <AccountType/>
      </UserInfo>
      <UserInfo>
        <DisplayName>Perriera, Gianluca</DisplayName>
        <AccountId>70</AccountId>
        <AccountType/>
      </UserInfo>
      <UserInfo>
        <DisplayName>Icardi, Luca</DisplayName>
        <AccountId>78</AccountId>
        <AccountType/>
      </UserInfo>
      <UserInfo>
        <DisplayName>Faldini, Lucrezia</DisplayName>
        <AccountId>95</AccountId>
        <AccountType/>
      </UserInfo>
      <UserInfo>
        <DisplayName>Pascarella, Rosa</DisplayName>
        <AccountId>92</AccountId>
        <AccountType/>
      </UserInfo>
      <UserInfo>
        <DisplayName>Canterino, Margherita</DisplayName>
        <AccountId>89</AccountId>
        <AccountType/>
      </UserInfo>
      <UserInfo>
        <DisplayName>Righetti, Davide</DisplayName>
        <AccountId>93</AccountId>
        <AccountType/>
      </UserInfo>
      <UserInfo>
        <DisplayName>van Goor, Hubert</DisplayName>
        <AccountId>98</AccountId>
        <AccountType/>
      </UserInfo>
    </SharedWithUsers>
    <MediaLengthInSeconds xmlns="e888293b-431f-4d22-ad83-af71688758e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E40850-29A0-442F-8CE8-6F61B63436FA}">
  <ds:schemaRefs>
    <ds:schemaRef ds:uri="e888293b-431f-4d22-ad83-af71688758e8"/>
    <ds:schemaRef ds:uri="f4051ca4-5e17-45e3-aa57-3a59add666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CE3DCDC-62F3-4C3D-9409-E66CDCE4D744}">
  <ds:schemaRefs>
    <ds:schemaRef ds:uri="e888293b-431f-4d22-ad83-af71688758e8"/>
    <ds:schemaRef ds:uri="f4051ca4-5e17-45e3-aa57-3a59add6660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1A31624-C761-462D-ABC1-036840A00E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615</Words>
  <Application>Microsoft Office PowerPoint</Application>
  <PresentationFormat>Widescreen</PresentationFormat>
  <Paragraphs>66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Graphik</vt:lpstr>
      <vt:lpstr>Wingdings</vt:lpstr>
      <vt:lpstr>Content Layouts</vt:lpstr>
      <vt:lpstr>think-cell Slide</vt:lpstr>
      <vt:lpstr>Arun Siddappa Shetty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Gaetano Biancardi CV</dc:title>
  <dc:creator>gaetano.biancardi@accenture.com</dc:creator>
  <cp:lastModifiedBy>Siddappa Shetty, Arun</cp:lastModifiedBy>
  <cp:revision>2</cp:revision>
  <dcterms:created xsi:type="dcterms:W3CDTF">2018-10-25T08:04:58Z</dcterms:created>
  <dcterms:modified xsi:type="dcterms:W3CDTF">2022-08-24T11:27:38Z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0x01010018382DBD601A5844BA68F97EA63DD3A6</vt:lpwstr>
  </property>
  <property fmtid="{D5CDD505-2E9C-101B-9397-08002B2CF9AE}" pid="3" name="AuthorIds_UIVersion_1536">
    <vt:lpwstr>24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