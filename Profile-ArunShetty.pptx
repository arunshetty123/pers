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5621" r:id="rId4"/>
  </p:sldMasterIdLst>
  <p:notesMasterIdLst>
    <p:notesMasterId r:id="rId6"/>
  </p:notesMasterIdLst>
  <p:handoutMasterIdLst>
    <p:handoutMasterId r:id="rId7"/>
  </p:handoutMasterIdLst>
  <p:sldIdLst>
    <p:sldId id="950" r:id="rId5"/>
  </p:sldIdLst>
  <p:sldSz cx="12187238" cy="6859588"/>
  <p:notesSz cx="6797675" cy="9928225"/>
  <p:custDataLst>
    <p:tags r:id="rId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60944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12188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82832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243777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3047213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3656656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4266097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4875541" algn="l" defTabSz="121888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pos="226" userDrawn="1">
          <p15:clr>
            <a:srgbClr val="A4A3A4"/>
          </p15:clr>
        </p15:guide>
        <p15:guide id="13" orient="horz" pos="2435" userDrawn="1">
          <p15:clr>
            <a:srgbClr val="A4A3A4"/>
          </p15:clr>
        </p15:guide>
        <p15:guide id="14" orient="horz" pos="1118" userDrawn="1">
          <p15:clr>
            <a:srgbClr val="A4A3A4"/>
          </p15:clr>
        </p15:guide>
        <p15:guide id="15" orient="horz" pos="807" userDrawn="1">
          <p15:clr>
            <a:srgbClr val="A4A3A4"/>
          </p15:clr>
        </p15:guide>
        <p15:guide id="17" orient="horz" pos="4199" userDrawn="1">
          <p15:clr>
            <a:srgbClr val="A4A3A4"/>
          </p15:clr>
        </p15:guide>
        <p15:guide id="18" orient="horz" pos="3756" userDrawn="1">
          <p15:clr>
            <a:srgbClr val="A4A3A4"/>
          </p15:clr>
        </p15:guide>
        <p15:guide id="20" orient="horz" pos="597" userDrawn="1">
          <p15:clr>
            <a:srgbClr val="A4A3A4"/>
          </p15:clr>
        </p15:guide>
        <p15:guide id="22" pos="1278">
          <p15:clr>
            <a:srgbClr val="A4A3A4"/>
          </p15:clr>
        </p15:guide>
        <p15:guide id="24" pos="2513" userDrawn="1">
          <p15:clr>
            <a:srgbClr val="A4A3A4"/>
          </p15:clr>
        </p15:guide>
        <p15:guide id="25" pos="2696" userDrawn="1">
          <p15:clr>
            <a:srgbClr val="A4A3A4"/>
          </p15:clr>
        </p15:guide>
        <p15:guide id="26" pos="3748" userDrawn="1">
          <p15:clr>
            <a:srgbClr val="A4A3A4"/>
          </p15:clr>
        </p15:guide>
        <p15:guide id="27" pos="3929">
          <p15:clr>
            <a:srgbClr val="A4A3A4"/>
          </p15:clr>
        </p15:guide>
        <p15:guide id="28" pos="5162" userDrawn="1">
          <p15:clr>
            <a:srgbClr val="A4A3A4"/>
          </p15:clr>
        </p15:guide>
        <p15:guide id="29" pos="4980" userDrawn="1">
          <p15:clr>
            <a:srgbClr val="A4A3A4"/>
          </p15:clr>
        </p15:guide>
        <p15:guide id="30" pos="6218">
          <p15:clr>
            <a:srgbClr val="A4A3A4"/>
          </p15:clr>
        </p15:guide>
        <p15:guide id="31" pos="6399">
          <p15:clr>
            <a:srgbClr val="A4A3A4"/>
          </p15:clr>
        </p15:guide>
        <p15:guide id="40" orient="horz" pos="4032">
          <p15:clr>
            <a:srgbClr val="A4A3A4"/>
          </p15:clr>
        </p15:guide>
        <p15:guide id="42" orient="horz" pos="876" userDrawn="1">
          <p15:clr>
            <a:srgbClr val="A4A3A4"/>
          </p15:clr>
        </p15:guide>
        <p15:guide id="43" pos="1458" userDrawn="1">
          <p15:clr>
            <a:srgbClr val="A4A3A4"/>
          </p15:clr>
        </p15:guide>
        <p15:guide id="44" pos="7445" userDrawn="1">
          <p15:clr>
            <a:srgbClr val="A4A3A4"/>
          </p15:clr>
        </p15:guide>
        <p15:guide id="45" pos="1460">
          <p15:clr>
            <a:srgbClr val="A4A3A4"/>
          </p15:clr>
        </p15:guide>
        <p15:guide id="46" orient="horz" pos="4177" userDrawn="1">
          <p15:clr>
            <a:srgbClr val="A4A3A4"/>
          </p15:clr>
        </p15:guide>
        <p15:guide id="47" orient="horz" pos="40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ucinda Pidcock" initials="LP" lastIdx="7" clrIdx="0"/>
  <p:cmAuthor id="1" name="Eriksson, Tobias" initials="ET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00BAFF"/>
    <a:srgbClr val="28ACE2"/>
    <a:srgbClr val="403F40"/>
    <a:srgbClr val="3F3F3F"/>
    <a:srgbClr val="000000"/>
    <a:srgbClr val="37465B"/>
    <a:srgbClr val="778888"/>
    <a:srgbClr val="666666"/>
    <a:srgbClr val="CB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0C21D3-FFFC-4186-B858-62EB76F70B06}" v="2" dt="2023-11-03T07:52:21.535"/>
  </p1510:revLst>
</p1510:revInfo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764" autoAdjust="0"/>
    <p:restoredTop sz="95833" autoAdjust="0"/>
  </p:normalViewPr>
  <p:slideViewPr>
    <p:cSldViewPr snapToGrid="0" snapToObjects="1" showGuides="1">
      <p:cViewPr varScale="1">
        <p:scale>
          <a:sx n="61" d="100"/>
          <a:sy n="61" d="100"/>
        </p:scale>
        <p:origin x="1240" y="64"/>
      </p:cViewPr>
      <p:guideLst>
        <p:guide pos="226"/>
        <p:guide orient="horz" pos="2435"/>
        <p:guide orient="horz" pos="1118"/>
        <p:guide orient="horz" pos="807"/>
        <p:guide orient="horz" pos="4199"/>
        <p:guide orient="horz" pos="3756"/>
        <p:guide orient="horz" pos="597"/>
        <p:guide pos="1278"/>
        <p:guide pos="2513"/>
        <p:guide pos="2696"/>
        <p:guide pos="3748"/>
        <p:guide pos="3929"/>
        <p:guide pos="5162"/>
        <p:guide pos="4980"/>
        <p:guide pos="6218"/>
        <p:guide pos="6399"/>
        <p:guide orient="horz" pos="4032"/>
        <p:guide orient="horz" pos="876"/>
        <p:guide pos="1458"/>
        <p:guide pos="7445"/>
        <p:guide pos="1460"/>
        <p:guide orient="horz" pos="4177"/>
        <p:guide orient="horz" pos="4014"/>
      </p:guideLst>
    </p:cSldViewPr>
  </p:slideViewPr>
  <p:outlineViewPr>
    <p:cViewPr>
      <p:scale>
        <a:sx n="33" d="100"/>
        <a:sy n="33" d="100"/>
      </p:scale>
      <p:origin x="0" y="264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276"/>
    </p:cViewPr>
  </p:sorterViewPr>
  <p:notesViewPr>
    <p:cSldViewPr snapToGrid="0" snapToObjects="1" showGuides="1">
      <p:cViewPr varScale="1">
        <p:scale>
          <a:sx n="45" d="100"/>
          <a:sy n="45" d="100"/>
        </p:scale>
        <p:origin x="-2366" y="-82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un Siddappa Shetty" userId="06f02734-77c9-424f-89d8-e9575c581cc3" providerId="ADAL" clId="{DA0C21D3-FFFC-4186-B858-62EB76F70B06}"/>
    <pc:docChg chg="custSel modSld">
      <pc:chgData name="Arun Siddappa Shetty" userId="06f02734-77c9-424f-89d8-e9575c581cc3" providerId="ADAL" clId="{DA0C21D3-FFFC-4186-B858-62EB76F70B06}" dt="2023-11-15T14:25:06.618" v="1333" actId="20577"/>
      <pc:docMkLst>
        <pc:docMk/>
      </pc:docMkLst>
      <pc:sldChg chg="addSp modSp mod">
        <pc:chgData name="Arun Siddappa Shetty" userId="06f02734-77c9-424f-89d8-e9575c581cc3" providerId="ADAL" clId="{DA0C21D3-FFFC-4186-B858-62EB76F70B06}" dt="2023-11-15T14:25:06.618" v="1333" actId="20577"/>
        <pc:sldMkLst>
          <pc:docMk/>
          <pc:sldMk cId="980275944" sldId="950"/>
        </pc:sldMkLst>
        <pc:spChg chg="add mod">
          <ac:chgData name="Arun Siddappa Shetty" userId="06f02734-77c9-424f-89d8-e9575c581cc3" providerId="ADAL" clId="{DA0C21D3-FFFC-4186-B858-62EB76F70B06}" dt="2023-11-03T05:14:51.842" v="540" actId="20577"/>
          <ac:spMkLst>
            <pc:docMk/>
            <pc:sldMk cId="980275944" sldId="950"/>
            <ac:spMk id="2" creationId="{A0C8E83D-AA20-7E38-16CA-2AE611B8A5E5}"/>
          </ac:spMkLst>
        </pc:spChg>
        <pc:spChg chg="mod">
          <ac:chgData name="Arun Siddappa Shetty" userId="06f02734-77c9-424f-89d8-e9575c581cc3" providerId="ADAL" clId="{DA0C21D3-FFFC-4186-B858-62EB76F70B06}" dt="2023-11-15T14:25:06.618" v="1333" actId="20577"/>
          <ac:spMkLst>
            <pc:docMk/>
            <pc:sldMk cId="980275944" sldId="950"/>
            <ac:spMk id="10" creationId="{00000000-0000-0000-0000-000000000000}"/>
          </ac:spMkLst>
        </pc:spChg>
        <pc:spChg chg="mod">
          <ac:chgData name="Arun Siddappa Shetty" userId="06f02734-77c9-424f-89d8-e9575c581cc3" providerId="ADAL" clId="{DA0C21D3-FFFC-4186-B858-62EB76F70B06}" dt="2023-11-09T07:42:31.834" v="1137" actId="20577"/>
          <ac:spMkLst>
            <pc:docMk/>
            <pc:sldMk cId="980275944" sldId="950"/>
            <ac:spMk id="12" creationId="{00000000-0000-0000-0000-000000000000}"/>
          </ac:spMkLst>
        </pc:spChg>
        <pc:spChg chg="mod">
          <ac:chgData name="Arun Siddappa Shetty" userId="06f02734-77c9-424f-89d8-e9575c581cc3" providerId="ADAL" clId="{DA0C21D3-FFFC-4186-B858-62EB76F70B06}" dt="2023-11-03T05:20:33.625" v="1118" actId="20577"/>
          <ac:spMkLst>
            <pc:docMk/>
            <pc:sldMk cId="980275944" sldId="950"/>
            <ac:spMk id="14" creationId="{00000000-0000-0000-0000-000000000000}"/>
          </ac:spMkLst>
        </pc:spChg>
        <pc:spChg chg="mod">
          <ac:chgData name="Arun Siddappa Shetty" userId="06f02734-77c9-424f-89d8-e9575c581cc3" providerId="ADAL" clId="{DA0C21D3-FFFC-4186-B858-62EB76F70B06}" dt="2023-11-03T05:11:52.238" v="414" actId="1076"/>
          <ac:spMkLst>
            <pc:docMk/>
            <pc:sldMk cId="980275944" sldId="950"/>
            <ac:spMk id="20" creationId="{196223B1-FA6E-44A9-8619-187FDC94148A}"/>
          </ac:spMkLst>
        </pc:spChg>
        <pc:picChg chg="add mod">
          <ac:chgData name="Arun Siddappa Shetty" userId="06f02734-77c9-424f-89d8-e9575c581cc3" providerId="ADAL" clId="{DA0C21D3-FFFC-4186-B858-62EB76F70B06}" dt="2023-11-03T07:52:35.212" v="1126" actId="1076"/>
          <ac:picMkLst>
            <pc:docMk/>
            <pc:sldMk cId="980275944" sldId="950"/>
            <ac:picMk id="4" creationId="{9CE585D8-D3F1-8E59-CED2-F6604658785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-128"/>
              </a:defRPr>
            </a:lvl1pPr>
          </a:lstStyle>
          <a:p>
            <a:pPr>
              <a:defRPr/>
            </a:pPr>
            <a:fld id="{5E4C7717-A413-48EB-9E74-9CC8DF624EC2}" type="datetime1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11/15/2023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-128"/>
              </a:defRPr>
            </a:lvl1pPr>
          </a:lstStyle>
          <a:p>
            <a:pPr>
              <a:defRPr/>
            </a:pPr>
            <a:fld id="{311B6921-662F-4705-A734-0B75ECCE1C4E}" type="slidenum"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72316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612C19A-B064-4A02-B1DD-2674A5B33712}" type="datetime1">
              <a:rPr lang="en-US" smtClean="0"/>
              <a:pPr>
                <a:defRPr/>
              </a:pPr>
              <a:t>11/15/2023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r>
              <a:rPr lang="en-GB" noProof="0" dirty="0" err="1"/>
              <a:t>Rj</a:t>
            </a:r>
            <a:r>
              <a:rPr lang="en-GB" noProof="0" dirty="0"/>
              <a:t> k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E57817C-C749-40AE-A5FD-F6A74744A7F9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59062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Arial" panose="020B0604020202020204" pitchFamily="34" charset="0"/>
      </a:defRPr>
    </a:lvl1pPr>
    <a:lvl2pPr marL="60944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2pPr>
    <a:lvl3pPr marL="12188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3pPr>
    <a:lvl4pPr marL="1828328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4pPr>
    <a:lvl5pPr marL="2437771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Roboto" panose="02000000000000000000" pitchFamily="2" charset="0"/>
        <a:cs typeface="+mn-cs"/>
      </a:defRPr>
    </a:lvl5pPr>
    <a:lvl6pPr marL="3047213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12188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12278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>
            <a:grpSpLocks noChangeAspect="1"/>
          </p:cNvGrpSpPr>
          <p:nvPr userDrawn="1"/>
        </p:nvGrpSpPr>
        <p:grpSpPr>
          <a:xfrm>
            <a:off x="7445417" y="905834"/>
            <a:ext cx="4316669" cy="4581837"/>
            <a:chOff x="3494539" y="1675327"/>
            <a:chExt cx="1371600" cy="1454950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FFEA00"/>
                </a:gs>
                <a:gs pos="100000">
                  <a:srgbClr val="FFB600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FFEA00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0853" y="457306"/>
            <a:ext cx="5712767" cy="3086815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8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851" y="3544123"/>
            <a:ext cx="5712768" cy="3163031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3998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799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5pPr>
            <a:lvl6pPr marL="339581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838" y="5849079"/>
            <a:ext cx="3318334" cy="64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23909" y="957673"/>
            <a:ext cx="4308100" cy="4572741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FFFF00"/>
                </a:gs>
                <a:gs pos="100000">
                  <a:srgbClr val="FFB600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FFFF00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0853" y="457306"/>
            <a:ext cx="5712767" cy="3086815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8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0851" y="3544123"/>
            <a:ext cx="5712768" cy="3163031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3998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799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5pPr>
            <a:lvl6pPr marL="339581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721" y="5819809"/>
            <a:ext cx="3515479" cy="68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24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602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 Centered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>
            <a:grpSpLocks noChangeAspect="1"/>
          </p:cNvGrpSpPr>
          <p:nvPr userDrawn="1"/>
        </p:nvGrpSpPr>
        <p:grpSpPr>
          <a:xfrm>
            <a:off x="3875274" y="905834"/>
            <a:ext cx="4316669" cy="4581837"/>
            <a:chOff x="3494539" y="1675327"/>
            <a:chExt cx="1371600" cy="1454950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FFEA00"/>
                </a:gs>
                <a:gs pos="100000">
                  <a:srgbClr val="FFB600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FFEA00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48860" y="1936822"/>
            <a:ext cx="4244759" cy="2768046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8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521280" y="436519"/>
            <a:ext cx="2285107" cy="3512940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2799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799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5pPr>
            <a:lvl6pPr marL="339581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28" y="5831995"/>
            <a:ext cx="3451465" cy="67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002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6000">
          <p15:clr>
            <a:srgbClr val="FBAE40"/>
          </p15:clr>
        </p15:guide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 Centered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 userDrawn="1"/>
        </p:nvSpPr>
        <p:spPr bwMode="auto">
          <a:xfrm>
            <a:off x="3870683" y="923983"/>
            <a:ext cx="4387963" cy="4546788"/>
          </a:xfrm>
          <a:custGeom>
            <a:avLst/>
            <a:gdLst>
              <a:gd name="T0" fmla="*/ 0 w 872"/>
              <a:gd name="T1" fmla="*/ 0 h 903"/>
              <a:gd name="T2" fmla="*/ 0 w 872"/>
              <a:gd name="T3" fmla="*/ 197 h 903"/>
              <a:gd name="T4" fmla="*/ 629 w 872"/>
              <a:gd name="T5" fmla="*/ 451 h 903"/>
              <a:gd name="T6" fmla="*/ 0 w 872"/>
              <a:gd name="T7" fmla="*/ 706 h 903"/>
              <a:gd name="T8" fmla="*/ 0 w 872"/>
              <a:gd name="T9" fmla="*/ 903 h 903"/>
              <a:gd name="T10" fmla="*/ 872 w 872"/>
              <a:gd name="T11" fmla="*/ 550 h 903"/>
              <a:gd name="T12" fmla="*/ 872 w 872"/>
              <a:gd name="T13" fmla="*/ 353 h 903"/>
              <a:gd name="T14" fmla="*/ 0 w 872"/>
              <a:gd name="T15" fmla="*/ 0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72" h="903">
                <a:moveTo>
                  <a:pt x="0" y="0"/>
                </a:moveTo>
                <a:lnTo>
                  <a:pt x="0" y="197"/>
                </a:lnTo>
                <a:lnTo>
                  <a:pt x="629" y="451"/>
                </a:lnTo>
                <a:lnTo>
                  <a:pt x="0" y="706"/>
                </a:lnTo>
                <a:lnTo>
                  <a:pt x="0" y="903"/>
                </a:lnTo>
                <a:lnTo>
                  <a:pt x="872" y="550"/>
                </a:lnTo>
                <a:lnTo>
                  <a:pt x="872" y="353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EA00"/>
              </a:gs>
              <a:gs pos="100000">
                <a:srgbClr val="FFB600"/>
              </a:gs>
            </a:gsLst>
            <a:lin ang="0" scaled="0"/>
          </a:gradFill>
          <a:ln>
            <a:noFill/>
          </a:ln>
        </p:spPr>
        <p:txBody>
          <a:bodyPr vert="horz" wrap="square" lIns="91404" tIns="45702" rIns="91404" bIns="45702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48860" y="1943550"/>
            <a:ext cx="4244759" cy="2858162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8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521280" y="436519"/>
            <a:ext cx="2285107" cy="3512940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2799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799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5pPr>
            <a:lvl6pPr marL="339581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28" y="5831995"/>
            <a:ext cx="3451465" cy="67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6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 Centered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 userDrawn="1"/>
        </p:nvSpPr>
        <p:spPr bwMode="auto">
          <a:xfrm>
            <a:off x="3876956" y="880944"/>
            <a:ext cx="4435458" cy="4596002"/>
          </a:xfrm>
          <a:custGeom>
            <a:avLst/>
            <a:gdLst>
              <a:gd name="T0" fmla="*/ 0 w 872"/>
              <a:gd name="T1" fmla="*/ 0 h 903"/>
              <a:gd name="T2" fmla="*/ 0 w 872"/>
              <a:gd name="T3" fmla="*/ 197 h 903"/>
              <a:gd name="T4" fmla="*/ 629 w 872"/>
              <a:gd name="T5" fmla="*/ 451 h 903"/>
              <a:gd name="T6" fmla="*/ 0 w 872"/>
              <a:gd name="T7" fmla="*/ 706 h 903"/>
              <a:gd name="T8" fmla="*/ 0 w 872"/>
              <a:gd name="T9" fmla="*/ 903 h 903"/>
              <a:gd name="T10" fmla="*/ 872 w 872"/>
              <a:gd name="T11" fmla="*/ 550 h 903"/>
              <a:gd name="T12" fmla="*/ 872 w 872"/>
              <a:gd name="T13" fmla="*/ 353 h 903"/>
              <a:gd name="T14" fmla="*/ 0 w 872"/>
              <a:gd name="T15" fmla="*/ 0 h 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72" h="903">
                <a:moveTo>
                  <a:pt x="0" y="0"/>
                </a:moveTo>
                <a:lnTo>
                  <a:pt x="0" y="197"/>
                </a:lnTo>
                <a:lnTo>
                  <a:pt x="629" y="451"/>
                </a:lnTo>
                <a:lnTo>
                  <a:pt x="0" y="706"/>
                </a:lnTo>
                <a:lnTo>
                  <a:pt x="0" y="903"/>
                </a:lnTo>
                <a:lnTo>
                  <a:pt x="872" y="550"/>
                </a:lnTo>
                <a:lnTo>
                  <a:pt x="872" y="353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FFB600"/>
            </a:solidFill>
          </a:ln>
        </p:spPr>
        <p:txBody>
          <a:bodyPr vert="horz" wrap="square" lIns="91404" tIns="45702" rIns="91404" bIns="45702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48860" y="1943550"/>
            <a:ext cx="4244759" cy="2858162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8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521280" y="436519"/>
            <a:ext cx="2285107" cy="3512940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2799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9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799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buNone/>
              <a:defRPr sz="1799" b="0" cap="none" baseline="0">
                <a:solidFill>
                  <a:schemeClr val="tx1"/>
                </a:solidFill>
                <a:latin typeface="+mn-lt"/>
              </a:defRPr>
            </a:lvl5pPr>
            <a:lvl6pPr marL="339581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28" y="5831995"/>
            <a:ext cx="3451465" cy="67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9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600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877665F-10BD-4C6C-AC32-89F087D69A7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83992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0" imgH="531" progId="TCLayout.ActiveDocument.1">
                  <p:embed/>
                </p:oleObj>
              </mc:Choice>
              <mc:Fallback>
                <p:oleObj name="think-cell Slide" r:id="rId3" imgW="530" imgH="53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877665F-10BD-4C6C-AC32-89F087D69A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Copyright </a:t>
            </a:r>
            <a:r>
              <a:rPr lang="sk-SK"/>
              <a:t>© 2018 </a:t>
            </a:r>
            <a:r>
              <a:rPr lang="en-US"/>
              <a:t>Accenture. All rights reserved.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0851" y="1829226"/>
            <a:ext cx="5712768" cy="4690561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132" indent="-230090">
              <a:buFont typeface="Graphik" panose="020B0503030202060203" pitchFamily="34" charset="0"/>
              <a:buChar char="–"/>
              <a:defRPr sz="1599"/>
            </a:lvl3pPr>
            <a:lvl5pPr marL="856886" indent="-177725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0851" y="381088"/>
            <a:ext cx="5712768" cy="9908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3619" y="1829226"/>
            <a:ext cx="5712768" cy="4690561"/>
          </a:xfrm>
        </p:spPr>
        <p:txBody>
          <a:bodyPr>
            <a:normAutofit/>
          </a:bodyPr>
          <a:lstStyle>
            <a:lvl1pPr>
              <a:defRPr sz="2399"/>
            </a:lvl1pPr>
            <a:lvl2pPr>
              <a:spcAft>
                <a:spcPts val="1200"/>
              </a:spcAft>
              <a:defRPr sz="1999"/>
            </a:lvl2pPr>
            <a:lvl3pPr marL="514132" indent="-230090">
              <a:buFont typeface="Graphik" panose="020B0503030202060203" pitchFamily="34" charset="0"/>
              <a:buChar char="–"/>
              <a:defRPr sz="1599"/>
            </a:lvl3pPr>
            <a:lvl5pPr marL="856886" indent="-177725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63709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07754DD-8FA0-4A2C-A8E9-7128DFDC71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69875853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30" imgH="531" progId="TCLayout.ActiveDocument.1">
                  <p:embed/>
                </p:oleObj>
              </mc:Choice>
              <mc:Fallback>
                <p:oleObj name="think-cell Slide" r:id="rId9" imgW="530" imgH="53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07754DD-8FA0-4A2C-A8E9-7128DFDC71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851" y="381090"/>
            <a:ext cx="11425536" cy="12957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851" y="1829224"/>
            <a:ext cx="11425536" cy="4687385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4016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2" r:id="rId1"/>
    <p:sldLayoutId id="2147485623" r:id="rId2"/>
    <p:sldLayoutId id="2147485624" r:id="rId3"/>
    <p:sldLayoutId id="2147485625" r:id="rId4"/>
    <p:sldLayoutId id="2147485626" r:id="rId5"/>
    <p:sldLayoutId id="2147485627" r:id="rId6"/>
  </p:sldLayoutIdLst>
  <p:hf hdr="0"/>
  <p:txStyles>
    <p:titleStyle>
      <a:lvl1pPr marL="0" indent="0" algn="l" defTabSz="914011" rtl="0" eaLnBrk="1" latinLnBrk="0" hangingPunct="1">
        <a:lnSpc>
          <a:spcPct val="70000"/>
        </a:lnSpc>
        <a:spcBef>
          <a:spcPct val="0"/>
        </a:spcBef>
        <a:buNone/>
        <a:defRPr sz="3998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011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799" b="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011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799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011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72965" indent="-169790" algn="l" defTabSz="9140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345928" indent="-177725" algn="l" defTabSz="914011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512545" indent="-172965" algn="l" defTabSz="9140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011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011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799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011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06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11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17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22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29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034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040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046" algn="l" defTabSz="914011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A86D3E3-108E-4FB4-97C9-5F91DE959D2E}"/>
              </a:ext>
            </a:extLst>
          </p:cNvPr>
          <p:cNvSpPr/>
          <p:nvPr/>
        </p:nvSpPr>
        <p:spPr>
          <a:xfrm>
            <a:off x="121" y="-95685"/>
            <a:ext cx="12187238" cy="2094681"/>
          </a:xfrm>
          <a:custGeom>
            <a:avLst/>
            <a:gdLst>
              <a:gd name="connsiteX0" fmla="*/ 1442474 w 12187238"/>
              <a:gd name="connsiteY0" fmla="*/ 119015 h 2094681"/>
              <a:gd name="connsiteX1" fmla="*/ 514149 w 12187238"/>
              <a:gd name="connsiteY1" fmla="*/ 1047340 h 2094681"/>
              <a:gd name="connsiteX2" fmla="*/ 1442474 w 12187238"/>
              <a:gd name="connsiteY2" fmla="*/ 1975665 h 2094681"/>
              <a:gd name="connsiteX3" fmla="*/ 2370799 w 12187238"/>
              <a:gd name="connsiteY3" fmla="*/ 1047340 h 2094681"/>
              <a:gd name="connsiteX4" fmla="*/ 1442474 w 12187238"/>
              <a:gd name="connsiteY4" fmla="*/ 119015 h 2094681"/>
              <a:gd name="connsiteX5" fmla="*/ 0 w 12187238"/>
              <a:gd name="connsiteY5" fmla="*/ 0 h 2094681"/>
              <a:gd name="connsiteX6" fmla="*/ 12187238 w 12187238"/>
              <a:gd name="connsiteY6" fmla="*/ 0 h 2094681"/>
              <a:gd name="connsiteX7" fmla="*/ 12187238 w 12187238"/>
              <a:gd name="connsiteY7" fmla="*/ 2094681 h 2094681"/>
              <a:gd name="connsiteX8" fmla="*/ 0 w 12187238"/>
              <a:gd name="connsiteY8" fmla="*/ 2094681 h 209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87238" h="2094681">
                <a:moveTo>
                  <a:pt x="1442474" y="119015"/>
                </a:moveTo>
                <a:cubicBezTo>
                  <a:pt x="929774" y="119015"/>
                  <a:pt x="514149" y="534640"/>
                  <a:pt x="514149" y="1047340"/>
                </a:cubicBezTo>
                <a:cubicBezTo>
                  <a:pt x="514149" y="1560040"/>
                  <a:pt x="929774" y="1975665"/>
                  <a:pt x="1442474" y="1975665"/>
                </a:cubicBezTo>
                <a:cubicBezTo>
                  <a:pt x="1955174" y="1975665"/>
                  <a:pt x="2370799" y="1560040"/>
                  <a:pt x="2370799" y="1047340"/>
                </a:cubicBezTo>
                <a:cubicBezTo>
                  <a:pt x="2370799" y="534640"/>
                  <a:pt x="1955174" y="119015"/>
                  <a:pt x="1442474" y="119015"/>
                </a:cubicBezTo>
                <a:close/>
                <a:moveTo>
                  <a:pt x="0" y="0"/>
                </a:moveTo>
                <a:lnTo>
                  <a:pt x="12187238" y="0"/>
                </a:lnTo>
                <a:lnTo>
                  <a:pt x="12187238" y="2094681"/>
                </a:lnTo>
                <a:lnTo>
                  <a:pt x="0" y="20946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99" dirty="0"/>
          </a:p>
        </p:txBody>
      </p: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2628950" y="382983"/>
            <a:ext cx="7902663" cy="16120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8ACE2"/>
                </a:solidFill>
              </a:rPr>
              <a:t>Arun Shetty</a:t>
            </a:r>
            <a:br>
              <a:rPr lang="en-US" dirty="0">
                <a:solidFill>
                  <a:srgbClr val="28ACE2"/>
                </a:solidFill>
              </a:rPr>
            </a:br>
            <a:r>
              <a:rPr lang="en-US" sz="1100" b="1" i="0" dirty="0">
                <a:effectLst/>
                <a:latin typeface="Segoe UI" panose="020B0502040204020203" pitchFamily="34" charset="0"/>
              </a:rPr>
              <a:t>Cloud Tech Arch Delivery Assoc Manager</a:t>
            </a:r>
            <a:endParaRPr lang="en-US" sz="1200" b="1" dirty="0">
              <a:solidFill>
                <a:srgbClr val="FF9500"/>
              </a:solidFill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467019" y="2260840"/>
            <a:ext cx="3122848" cy="3670880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930" tIns="26989" rIns="26989" bIns="26989" anchor="t">
            <a:spAutoFit/>
          </a:bodyPr>
          <a:lstStyle/>
          <a:p>
            <a:pPr marL="146388" indent="-146388" eaLnBrk="0" hangingPunct="0"/>
            <a:r>
              <a:rPr lang="en-US" sz="1200" b="1" dirty="0">
                <a:solidFill>
                  <a:srgbClr val="00BAFF"/>
                </a:solidFill>
                <a:latin typeface="Arial Black" panose="020B0A04020102020204" pitchFamily="34" charset="0"/>
              </a:rPr>
              <a:t>PROFESSIONAL BACKGROUND</a:t>
            </a:r>
          </a:p>
          <a:p>
            <a:pPr>
              <a:spcBef>
                <a:spcPts val="450"/>
              </a:spcBef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I have 13 plus years of total experience. 5+ years of experience in Python, Shell Scripting, SQL and Django</a:t>
            </a:r>
          </a:p>
          <a:p>
            <a:pPr>
              <a:spcBef>
                <a:spcPts val="450"/>
              </a:spcBef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I have worked on designing and developing custom solutions for Order and inventory management for a retail client. Also, I have worked on CX products like Siebel and Oracle DX4C. I have contributed to various roles like - as a developer, in L2 Support team and in DevOps roles in different projects. I have experience in architecting and creating new assets and automation tools. I have managed teams from the last 4 years in both support and development projects.</a:t>
            </a:r>
          </a:p>
          <a:p>
            <a:pPr>
              <a:spcBef>
                <a:spcPts val="450"/>
              </a:spcBef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I have worked on DevOps tools, RPA Tools (UiPath and Selenium), Shell Scripting, Python etc.</a:t>
            </a:r>
          </a:p>
          <a:p>
            <a:pPr>
              <a:spcBef>
                <a:spcPts val="450"/>
              </a:spcBef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I am currently leading a team which is working on the Order Management and inventory management of an application for a retail client.. </a:t>
            </a:r>
          </a:p>
          <a:p>
            <a:pPr>
              <a:spcBef>
                <a:spcPts val="450"/>
              </a:spcBef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I have good experience  in PLSQL and Python, </a:t>
            </a:r>
            <a:r>
              <a:rPr lang="en-US" sz="90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Shell Scripting, Oracle 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Enterprise Data Quality and Qlik Sense Data visualization tool.</a:t>
            </a:r>
          </a:p>
          <a:p>
            <a:pPr>
              <a:spcBef>
                <a:spcPts val="450"/>
              </a:spcBef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Worked on Oracle Cloud Infrastructure for more than a year and have these certifications - OCI Operations, OCI Architect Associate.</a:t>
            </a:r>
          </a:p>
        </p:txBody>
      </p: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467019" y="2260840"/>
            <a:ext cx="0" cy="417261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708853" y="2260840"/>
            <a:ext cx="2679926" cy="120866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930" tIns="26989" rIns="26989" bIns="26989" anchor="t">
            <a:spAutoFit/>
          </a:bodyPr>
          <a:lstStyle/>
          <a:p>
            <a:pPr marL="146388" indent="-146388" eaLnBrk="0" hangingPunct="0"/>
            <a:r>
              <a:rPr lang="en-US" sz="1200" b="1" dirty="0">
                <a:solidFill>
                  <a:srgbClr val="00BAFF"/>
                </a:solidFill>
                <a:latin typeface="Arial Black" panose="020B0A04020102020204" pitchFamily="34" charset="0"/>
              </a:rPr>
              <a:t>AREAS OF EXPERTISE</a:t>
            </a:r>
          </a:p>
          <a:p>
            <a:pPr marL="114303" indent="-114303" eaLnBrk="0" hangingPunct="0">
              <a:buFontTx/>
              <a:buChar char="•"/>
              <a:defRPr/>
            </a:pPr>
            <a:r>
              <a:rPr lang="en-US" sz="900" kern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114303" indent="-114303" eaLnBrk="0" hangingPunct="0">
              <a:buFontTx/>
              <a:buChar char="•"/>
              <a:defRPr/>
            </a:pPr>
            <a:r>
              <a:rPr lang="en-US" sz="90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</a:t>
            </a:r>
            <a:endParaRPr lang="en-US" sz="900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3" indent="-114303" eaLnBrk="0" hangingPunct="0">
              <a:buFontTx/>
              <a:buChar char="•"/>
              <a:defRPr/>
            </a:pPr>
            <a:r>
              <a:rPr lang="en-US" sz="9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Infrastructure (OCI)</a:t>
            </a:r>
          </a:p>
          <a:p>
            <a:pPr marL="114303" indent="-114303" eaLnBrk="0" hangingPunct="0">
              <a:buFontTx/>
              <a:buChar char="•"/>
              <a:defRPr/>
            </a:pPr>
            <a:r>
              <a:rPr lang="en-US" sz="900" kern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DevOps</a:t>
            </a:r>
          </a:p>
          <a:p>
            <a:pPr marL="114303" indent="-114303" eaLnBrk="0" hangingPunct="0">
              <a:buFontTx/>
              <a:buChar char="•"/>
              <a:defRPr/>
            </a:pPr>
            <a:r>
              <a:rPr lang="en-US" sz="900" kern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Shell Scripting</a:t>
            </a:r>
          </a:p>
          <a:p>
            <a:pPr marL="114303" indent="-114303" eaLnBrk="0" hangingPunct="0">
              <a:buFontTx/>
              <a:buChar char="•"/>
              <a:defRPr/>
            </a:pPr>
            <a:r>
              <a:rPr lang="en-US" sz="900" kern="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RPA (UiPath)</a:t>
            </a:r>
            <a:endParaRPr lang="en-US" sz="900" kern="0" dirty="0">
              <a:solidFill>
                <a:srgbClr val="404040"/>
              </a:solidFill>
            </a:endParaRPr>
          </a:p>
          <a:p>
            <a:pPr marL="114303" indent="-114303" eaLnBrk="0" hangingPunct="0">
              <a:buFontTx/>
              <a:buChar char="•"/>
              <a:defRPr/>
            </a:pPr>
            <a:endParaRPr lang="en-US" sz="9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3708857" y="2260840"/>
            <a:ext cx="0" cy="417261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769785" y="2315924"/>
            <a:ext cx="5217506" cy="384015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930" tIns="26989" rIns="26989" bIns="26989" anchor="t">
            <a:spAutoFit/>
          </a:bodyPr>
          <a:lstStyle/>
          <a:p>
            <a:pPr indent="-146388" eaLnBrk="0" hangingPunct="0">
              <a:spcBef>
                <a:spcPts val="450"/>
              </a:spcBef>
            </a:pPr>
            <a:r>
              <a:rPr lang="en-US" sz="1200" b="1" dirty="0">
                <a:solidFill>
                  <a:srgbClr val="00BAFF"/>
                </a:solidFill>
                <a:latin typeface="Arial Black" panose="020B0A04020102020204" pitchFamily="34" charset="0"/>
              </a:rPr>
              <a:t>Relevant Project Experience</a:t>
            </a:r>
            <a:endParaRPr lang="en-IN" sz="900" dirty="0">
              <a:solidFill>
                <a:srgbClr val="404040"/>
              </a:solidFill>
              <a:cs typeface="Arial" panose="020B0604020202020204" pitchFamily="34" charset="0"/>
            </a:endParaRPr>
          </a:p>
          <a:p>
            <a:pPr algn="just" eaLnBrk="0" hangingPunct="0">
              <a:defRPr/>
            </a:pPr>
            <a:endParaRPr lang="en-US" sz="900" b="1" kern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0" hangingPunct="0">
              <a:defRPr/>
            </a:pPr>
            <a:r>
              <a:rPr lang="en-US" sz="900" b="1" kern="0" dirty="0">
                <a:solidFill>
                  <a:srgbClr val="000000"/>
                </a:solidFill>
              </a:rPr>
              <a:t>P&amp;G Sales Samples </a:t>
            </a:r>
            <a:r>
              <a:rPr lang="en-US" sz="900" kern="0" dirty="0">
                <a:solidFill>
                  <a:srgbClr val="000000"/>
                </a:solidFill>
              </a:rPr>
              <a:t>:</a:t>
            </a:r>
          </a:p>
          <a:p>
            <a:pPr eaLnBrk="0" hangingPunct="0">
              <a:defRPr/>
            </a:pPr>
            <a:endParaRPr lang="en-US" sz="900" kern="0" dirty="0">
              <a:solidFill>
                <a:srgbClr val="000000"/>
              </a:solidFill>
            </a:endParaRPr>
          </a:p>
          <a:p>
            <a:pPr marL="171450" indent="-17145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  <a:latin typeface="Arial" panose="020B0604020202020204" pitchFamily="34" charset="0"/>
              </a:rPr>
              <a:t>Lead a team of developers in developing Sales Samples application for P&amp;G</a:t>
            </a:r>
          </a:p>
          <a:p>
            <a:pPr marL="171450" indent="-17145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  <a:latin typeface="Arial" panose="020B0604020202020204" pitchFamily="34" charset="0"/>
              </a:rPr>
              <a:t>Architected the application for new modules – Order Management and Inventory Management</a:t>
            </a:r>
          </a:p>
          <a:p>
            <a:pPr marL="171450" indent="-17145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  <a:latin typeface="Arial" panose="020B0604020202020204" pitchFamily="34" charset="0"/>
              </a:rPr>
              <a:t>Worked on the migration of application from IAAS to PAAS</a:t>
            </a:r>
          </a:p>
          <a:p>
            <a:pPr marL="171450" indent="-17145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  <a:latin typeface="Arial" panose="020B0604020202020204" pitchFamily="34" charset="0"/>
              </a:rPr>
              <a:t>Designed the authentication strategy for users and APIs using Azure AD</a:t>
            </a:r>
          </a:p>
          <a:p>
            <a:pPr marL="171450" indent="-17145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  <a:latin typeface="Arial" panose="020B0604020202020204" pitchFamily="34" charset="0"/>
              </a:rPr>
              <a:t>Worked on the development of the application and integrations with external applications using Azure APIM</a:t>
            </a:r>
          </a:p>
          <a:p>
            <a:pPr marL="171450" indent="-17145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  <a:latin typeface="Arial" panose="020B0604020202020204" pitchFamily="34" charset="0"/>
              </a:rPr>
              <a:t>Successfully deployed the applications to Production </a:t>
            </a:r>
          </a:p>
          <a:p>
            <a:pPr algn="just" eaLnBrk="0" hangingPunct="0">
              <a:defRPr/>
            </a:pPr>
            <a:endParaRPr lang="en-US" sz="900" b="1" kern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eaLnBrk="0" hangingPunct="0">
              <a:defRPr/>
            </a:pPr>
            <a:r>
              <a:rPr lang="en-US" sz="900" b="1" kern="0" dirty="0">
                <a:solidFill>
                  <a:srgbClr val="000000"/>
                </a:solidFill>
                <a:latin typeface="Arial" panose="020B0604020202020204" pitchFamily="34" charset="0"/>
              </a:rPr>
              <a:t>DX4C Cumulus : 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endParaRPr lang="en-US" sz="900" kern="0" dirty="0">
              <a:solidFill>
                <a:srgbClr val="000000"/>
              </a:solidFill>
            </a:endParaRP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Lead DevOps team of 6 resources and created DevOps Pipeline for Dx4C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Created a middleware kind of asset specific for Dx4C using Django and Python.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Created Automation Orchestrator using DevOps  tools, RPA (UiPath and Selenium) and Django. 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Worked as a scrum master internally using Jira to manage the sprint.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endParaRPr lang="en-US" sz="900" kern="0" dirty="0">
              <a:solidFill>
                <a:srgbClr val="000000"/>
              </a:solidFill>
            </a:endParaRPr>
          </a:p>
          <a:p>
            <a:pPr eaLnBrk="0" hangingPunct="0">
              <a:defRPr/>
            </a:pPr>
            <a:r>
              <a:rPr lang="en-US" sz="900" b="1" kern="0" dirty="0">
                <a:solidFill>
                  <a:srgbClr val="000000"/>
                </a:solidFill>
              </a:rPr>
              <a:t>Vodafone UK: 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Involved in Supporting Siebel Newco Stack . Triaging production defects, attending to incidents and supporting release activities.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Coordinating with the offshore team and helping them in resolving incidents.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Developed many automations for manual jobs which greatly reduced the amount of time required to run the jobs. </a:t>
            </a:r>
          </a:p>
          <a:p>
            <a:pPr marL="171450" indent="-171450" eaLnBrk="0" hangingPunct="0">
              <a:buFont typeface="Arial" panose="020B0604020202020204" pitchFamily="34" charset="0"/>
              <a:buChar char="•"/>
              <a:defRPr/>
            </a:pPr>
            <a:r>
              <a:rPr lang="en-US" sz="900" kern="0" dirty="0">
                <a:solidFill>
                  <a:srgbClr val="000000"/>
                </a:solidFill>
              </a:rPr>
              <a:t>Execution of ad-hoc jobs on Production and supporting Critical Priority 1 incidents.</a:t>
            </a:r>
          </a:p>
        </p:txBody>
      </p:sp>
      <p:cxnSp>
        <p:nvCxnSpPr>
          <p:cNvPr id="15" name="Straight Connector 14"/>
          <p:cNvCxnSpPr>
            <a:cxnSpLocks/>
          </p:cNvCxnSpPr>
          <p:nvPr/>
        </p:nvCxnSpPr>
        <p:spPr>
          <a:xfrm flipH="1">
            <a:off x="6769785" y="2260840"/>
            <a:ext cx="2" cy="4172617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7"/>
          <p:cNvSpPr txBox="1">
            <a:spLocks/>
          </p:cNvSpPr>
          <p:nvPr/>
        </p:nvSpPr>
        <p:spPr>
          <a:xfrm>
            <a:off x="380854" y="6518597"/>
            <a:ext cx="5712767" cy="20629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prstClr val="white">
                    <a:lumMod val="65000"/>
                  </a:prstClr>
                </a:solidFill>
              </a:rPr>
              <a:t>Copyright </a:t>
            </a:r>
            <a:r>
              <a:rPr lang="sk-SK" dirty="0">
                <a:solidFill>
                  <a:prstClr val="white">
                    <a:lumMod val="65000"/>
                  </a:prstClr>
                </a:solidFill>
              </a:rPr>
              <a:t>© 201</a:t>
            </a:r>
            <a:r>
              <a:rPr lang="da-DK" dirty="0">
                <a:solidFill>
                  <a:prstClr val="white">
                    <a:lumMod val="65000"/>
                  </a:prstClr>
                </a:solidFill>
              </a:rPr>
              <a:t>9</a:t>
            </a:r>
            <a:r>
              <a:rPr lang="sk-SK" dirty="0">
                <a:solidFill>
                  <a:prstClr val="white">
                    <a:lumMod val="65000"/>
                  </a:prstClr>
                </a:solidFill>
              </a:rPr>
              <a:t> </a:t>
            </a:r>
            <a:r>
              <a:rPr lang="en-US" dirty="0">
                <a:solidFill>
                  <a:prstClr val="white">
                    <a:lumMod val="65000"/>
                  </a:prstClr>
                </a:solidFill>
              </a:rPr>
              <a:t>Accenture. All rights reserved.</a:t>
            </a: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196223B1-FA6E-44A9-8619-187FDC941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853" y="3474270"/>
            <a:ext cx="2679926" cy="1252269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930" tIns="26989" rIns="26989" bIns="26989" anchor="t">
            <a:spAutoFit/>
          </a:bodyPr>
          <a:lstStyle/>
          <a:p>
            <a:pPr marL="146388" indent="-146388" eaLnBrk="0" hangingPunct="0"/>
            <a:r>
              <a:rPr lang="en-US" sz="1200" b="1" dirty="0">
                <a:solidFill>
                  <a:srgbClr val="00BAFF"/>
                </a:solidFill>
                <a:latin typeface="Arial Black" panose="020B0A04020102020204" pitchFamily="34" charset="0"/>
              </a:rPr>
              <a:t>INDUSTRIES OF EXPERIENCE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Retail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Telecom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Healthcare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Banking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Energy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F3BFC9-26E4-4642-8A46-263EE66734F4}"/>
              </a:ext>
            </a:extLst>
          </p:cNvPr>
          <p:cNvSpPr/>
          <p:nvPr/>
        </p:nvSpPr>
        <p:spPr>
          <a:xfrm>
            <a:off x="2641653" y="1049422"/>
            <a:ext cx="4985266" cy="92333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defTabSz="540417" eaLnBrk="0" hangingPunct="0">
              <a:lnSpc>
                <a:spcPct val="150000"/>
              </a:lnSpc>
              <a:spcAft>
                <a:spcPts val="600"/>
              </a:spcAft>
            </a:pPr>
            <a:r>
              <a:rPr lang="en-US" sz="1200" dirty="0" err="1">
                <a:solidFill>
                  <a:srgbClr val="404040"/>
                </a:solidFill>
              </a:rPr>
              <a:t>arun.siddappa,shetty@accenture.com</a:t>
            </a:r>
            <a:br>
              <a:rPr lang="en-US" sz="1200" dirty="0">
                <a:solidFill>
                  <a:srgbClr val="404040"/>
                </a:solidFill>
              </a:rPr>
            </a:br>
            <a:r>
              <a:rPr lang="en-US" sz="1200" dirty="0">
                <a:solidFill>
                  <a:srgbClr val="404040"/>
                </a:solidFill>
              </a:rPr>
              <a:t>9035550309</a:t>
            </a:r>
            <a:br>
              <a:rPr lang="en-US" sz="1200" dirty="0">
                <a:solidFill>
                  <a:srgbClr val="404040"/>
                </a:solidFill>
              </a:rPr>
            </a:br>
            <a:endParaRPr lang="en-US" sz="1200" b="1" dirty="0">
              <a:solidFill>
                <a:srgbClr val="40404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0E8043-9B58-4CAF-B221-83A004054D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811"/>
          <a:stretch/>
        </p:blipFill>
        <p:spPr>
          <a:xfrm>
            <a:off x="7405063" y="65676"/>
            <a:ext cx="1951134" cy="1891293"/>
          </a:xfrm>
          <a:prstGeom prst="rect">
            <a:avLst/>
          </a:prstGeom>
        </p:spPr>
      </p:pic>
      <p:sp>
        <p:nvSpPr>
          <p:cNvPr id="2" name="Rectangle 12">
            <a:extLst>
              <a:ext uri="{FF2B5EF4-FFF2-40B4-BE49-F238E27FC236}">
                <a16:creationId xmlns:a16="http://schemas.microsoft.com/office/drawing/2014/main" id="{A0C8E83D-AA20-7E38-16CA-2AE611B8A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853" y="4953863"/>
            <a:ext cx="2679926" cy="1124029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179930" tIns="26989" rIns="26989" bIns="26989" anchor="t">
            <a:spAutoFit/>
          </a:bodyPr>
          <a:lstStyle/>
          <a:p>
            <a:pPr marL="146388" indent="-146388" eaLnBrk="0" hangingPunct="0"/>
            <a:r>
              <a:rPr lang="en-US" sz="1200" b="1" dirty="0">
                <a:solidFill>
                  <a:srgbClr val="00BAFF"/>
                </a:solidFill>
                <a:latin typeface="Arial Black" panose="020B0A04020102020204" pitchFamily="34" charset="0"/>
              </a:rPr>
              <a:t>Certifications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Oracle Cloud Infrastructure Architect Associate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Oracle Cloud Infrastructure Operations Associate</a:t>
            </a:r>
          </a:p>
          <a:p>
            <a:pPr marL="171381" indent="-17138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133297" algn="l"/>
              </a:tabLst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Oracle Cloud Infrastructure Foundations</a:t>
            </a:r>
          </a:p>
        </p:txBody>
      </p:sp>
      <p:pic>
        <p:nvPicPr>
          <p:cNvPr id="4" name="Picture 3" descr="A person in a suit&#10;&#10;Description automatically generated">
            <a:extLst>
              <a:ext uri="{FF2B5EF4-FFF2-40B4-BE49-F238E27FC236}">
                <a16:creationId xmlns:a16="http://schemas.microsoft.com/office/drawing/2014/main" id="{9CE585D8-D3F1-8E59-CED2-F66046587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19" y="38964"/>
            <a:ext cx="1950122" cy="179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2759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0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Digital_Template_Arial_v2" id="{7E5354B8-16CC-4CCD-93BC-DE42E38B4FEF}" vid="{3E17E4EC-38AB-4BA1-A249-CAA23088CD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5EAC906B993B4E948F3DEB4BDCD4C6" ma:contentTypeVersion="2" ma:contentTypeDescription="Create a new document." ma:contentTypeScope="" ma:versionID="d54719bebe95d34b218f6eeef4e67166">
  <xsd:schema xmlns:xsd="http://www.w3.org/2001/XMLSchema" xmlns:xs="http://www.w3.org/2001/XMLSchema" xmlns:p="http://schemas.microsoft.com/office/2006/metadata/properties" xmlns:ns2="2222bb95-8d5a-4a25-9142-e35ce7f3186e" targetNamespace="http://schemas.microsoft.com/office/2006/metadata/properties" ma:root="true" ma:fieldsID="7b6a77df788ecf3de4bd10a301be8a85" ns2:_="">
    <xsd:import namespace="2222bb95-8d5a-4a25-9142-e35ce7f318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2bb95-8d5a-4a25-9142-e35ce7f318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9FB9E9F0-A80E-4BC0-BC10-BBDB06BF5F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EAD0FD-8B5E-42F5-87AA-3F47152CF9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22bb95-8d5a-4a25-9142-e35ce7f318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F8FF39-A5D2-4C20-89CA-E0BB61C09927}">
  <ds:schemaRefs>
    <ds:schemaRef ds:uri="2222bb95-8d5a-4a25-9142-e35ce7f3186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Analytics Leadership Meeting - Corporate Functions (CFO Agenda)</Template>
  <TotalTime>14790</TotalTime>
  <Words>472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Black</vt:lpstr>
      <vt:lpstr>Graphik</vt:lpstr>
      <vt:lpstr>Segoe UI</vt:lpstr>
      <vt:lpstr>Titles</vt:lpstr>
      <vt:lpstr>think-cell Slide</vt:lpstr>
      <vt:lpstr>Arun Shetty Cloud Tech Arch Delivery Assoc Manager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Functions</dc:title>
  <dc:creator>Oliveira, M. B.</dc:creator>
  <cp:lastModifiedBy>Arun</cp:lastModifiedBy>
  <cp:revision>213</cp:revision>
  <cp:lastPrinted>2017-01-19T18:27:05Z</cp:lastPrinted>
  <dcterms:created xsi:type="dcterms:W3CDTF">2016-09-20T20:46:14Z</dcterms:created>
  <dcterms:modified xsi:type="dcterms:W3CDTF">2023-11-15T14:25:06Z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0x010100575EAC906B993B4E948F3DEB4BDCD4C6</vt:lpwstr>
  </property>
  <property fmtid="{D5CDD505-2E9C-101B-9397-08002B2CF9AE}" pid="3" name="UserName">
    <vt:lpwstr>lpidcock</vt:lpwstr>
  </property>
  <property fmtid="{D5CDD505-2E9C-101B-9397-08002B2CF9AE}" pid="4" name="ComputerName">
    <vt:lpwstr>DLOADMIN</vt:lpwstr>
  </property>
  <property fmtid="{D5CDD505-2E9C-101B-9397-08002B2CF9AE}" pid="5" name="palette_size">
    <vt:lpwstr>6</vt:lpwstr>
  </property>
</Properties>
</file>